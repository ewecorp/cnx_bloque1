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b6fbbb4486454b" /><Relationship Type="http://schemas.openxmlformats.org/officeDocument/2006/relationships/extended-properties" Target="/docProps/app.xml" Id="R1bf51ddff9844862" /><Relationship Type="http://schemas.openxmlformats.org/officeDocument/2006/relationships/officeDocument" Target="/ppt/presentation.xml" Id="R28e97f61ac3741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8f2f4d70024f93"/>
  </p:sldMasterIdLst>
  <p:notesMasterIdLst>
    <p:notesMasterId xmlns:r="http://schemas.openxmlformats.org/officeDocument/2006/relationships" r:id="R7d9eaaf7df4348f9"/>
  </p:notesMasterIdLst>
  <p:sldIdLst>
    <p:sldId xmlns:r="http://schemas.openxmlformats.org/officeDocument/2006/relationships" id="256" r:id="R524c7db48de4477b"/>
    <p:sldId xmlns:r="http://schemas.openxmlformats.org/officeDocument/2006/relationships" id="257" r:id="R64b25ae2e50c43d9"/>
    <p:sldId xmlns:r="http://schemas.openxmlformats.org/officeDocument/2006/relationships" id="258" r:id="R172375c0c43a49d9"/>
    <p:sldId xmlns:r="http://schemas.openxmlformats.org/officeDocument/2006/relationships" id="259" r:id="R386cb79b6ab24f2a"/>
    <p:sldId xmlns:r="http://schemas.openxmlformats.org/officeDocument/2006/relationships" id="260" r:id="R27657b2baddd4756"/>
    <p:sldId xmlns:r="http://schemas.openxmlformats.org/officeDocument/2006/relationships" id="261" r:id="R5e7263c4937f4ca7"/>
    <p:sldId xmlns:r="http://schemas.openxmlformats.org/officeDocument/2006/relationships" id="262" r:id="R3bf1550e1a0a40e3"/>
    <p:sldId xmlns:r="http://schemas.openxmlformats.org/officeDocument/2006/relationships" id="263" r:id="Raf79fbd9adfb47c4"/>
    <p:sldId xmlns:r="http://schemas.openxmlformats.org/officeDocument/2006/relationships" id="264" r:id="R508239810588471f"/>
    <p:sldId xmlns:r="http://schemas.openxmlformats.org/officeDocument/2006/relationships" id="265" r:id="R0dac02abe11347e4"/>
    <p:sldId xmlns:r="http://schemas.openxmlformats.org/officeDocument/2006/relationships" id="266" r:id="Re15ecce2f96f4735"/>
    <p:sldId xmlns:r="http://schemas.openxmlformats.org/officeDocument/2006/relationships" id="267" r:id="R1cfe219d093d445e"/>
    <p:sldId xmlns:r="http://schemas.openxmlformats.org/officeDocument/2006/relationships" id="268" r:id="R0712055a6d4947b4"/>
    <p:sldId xmlns:r="http://schemas.openxmlformats.org/officeDocument/2006/relationships" id="269" r:id="R96a368440bd64d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92150453f94d06" /><Relationship Type="http://schemas.openxmlformats.org/officeDocument/2006/relationships/slideMaster" Target="/ppt/slideMasters/slideMaster1.xml" Id="Rf18f2f4d70024f93" /><Relationship Type="http://schemas.openxmlformats.org/officeDocument/2006/relationships/notesMaster" Target="/ppt/notesMasters/notesMaster1.xml" Id="R7d9eaaf7df4348f9" /><Relationship Type="http://schemas.openxmlformats.org/officeDocument/2006/relationships/presProps" Target="/ppt/presProps.xml" Id="Rb3f0f5704ca843dc" /><Relationship Type="http://schemas.openxmlformats.org/officeDocument/2006/relationships/tableStyles" Target="/ppt/tableStyles.xml" Id="R0e0615958fad45f9" /><Relationship Type="http://schemas.openxmlformats.org/officeDocument/2006/relationships/slide" Target="/ppt/slides/slide1.xml" Id="R524c7db48de4477b" /><Relationship Type="http://schemas.openxmlformats.org/officeDocument/2006/relationships/slide" Target="/ppt/slides/slide2.xml" Id="R64b25ae2e50c43d9" /><Relationship Type="http://schemas.openxmlformats.org/officeDocument/2006/relationships/slide" Target="/ppt/slides/slide3.xml" Id="R172375c0c43a49d9" /><Relationship Type="http://schemas.openxmlformats.org/officeDocument/2006/relationships/slide" Target="/ppt/slides/slide4.xml" Id="R386cb79b6ab24f2a" /><Relationship Type="http://schemas.openxmlformats.org/officeDocument/2006/relationships/slide" Target="/ppt/slides/slide5.xml" Id="R27657b2baddd4756" /><Relationship Type="http://schemas.openxmlformats.org/officeDocument/2006/relationships/slide" Target="/ppt/slides/slide6.xml" Id="R5e7263c4937f4ca7" /><Relationship Type="http://schemas.openxmlformats.org/officeDocument/2006/relationships/slide" Target="/ppt/slides/slide7.xml" Id="R3bf1550e1a0a40e3" /><Relationship Type="http://schemas.openxmlformats.org/officeDocument/2006/relationships/slide" Target="/ppt/slides/slide8.xml" Id="Raf79fbd9adfb47c4" /><Relationship Type="http://schemas.openxmlformats.org/officeDocument/2006/relationships/slide" Target="/ppt/slides/slide9.xml" Id="R508239810588471f" /><Relationship Type="http://schemas.openxmlformats.org/officeDocument/2006/relationships/slide" Target="/ppt/slides/slide10.xml" Id="R0dac02abe11347e4" /><Relationship Type="http://schemas.openxmlformats.org/officeDocument/2006/relationships/slide" Target="/ppt/slides/slide11.xml" Id="Re15ecce2f96f4735" /><Relationship Type="http://schemas.openxmlformats.org/officeDocument/2006/relationships/slide" Target="/ppt/slides/slide12.xml" Id="R1cfe219d093d445e" /><Relationship Type="http://schemas.openxmlformats.org/officeDocument/2006/relationships/slide" Target="/ppt/slides/slide13.xml" Id="R0712055a6d4947b4" /><Relationship Type="http://schemas.openxmlformats.org/officeDocument/2006/relationships/slide" Target="/ppt/slides/slide14.xml" Id="R96a368440bd64d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ddeead827f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6dc7024a114fcf" /><Relationship Type="http://schemas.openxmlformats.org/officeDocument/2006/relationships/notesMaster" Target="/ppt/notesMasters/notesMaster1.xml" Id="R4d707e1fb81944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ca6b672e774f84" /><Relationship Type="http://schemas.openxmlformats.org/officeDocument/2006/relationships/notesMaster" Target="/ppt/notesMasters/notesMaster1.xml" Id="R5be0048741cf45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59d6264ad2432a" /><Relationship Type="http://schemas.openxmlformats.org/officeDocument/2006/relationships/notesMaster" Target="/ppt/notesMasters/notesMaster1.xml" Id="Rb8dbcf3accf94d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e2e40a18394084" /><Relationship Type="http://schemas.openxmlformats.org/officeDocument/2006/relationships/notesMaster" Target="/ppt/notesMasters/notesMaster1.xml" Id="Re30eeb613f704d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58053bc6974951" /><Relationship Type="http://schemas.openxmlformats.org/officeDocument/2006/relationships/notesMaster" Target="/ppt/notesMasters/notesMaster1.xml" Id="Rc8f0631bbbb14d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3bd7cd0cb84e5d" /><Relationship Type="http://schemas.openxmlformats.org/officeDocument/2006/relationships/notesMaster" Target="/ppt/notesMasters/notesMaster1.xml" Id="R4478192a07264b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894518c4e14dc4" /><Relationship Type="http://schemas.openxmlformats.org/officeDocument/2006/relationships/notesMaster" Target="/ppt/notesMasters/notesMaster1.xml" Id="R78581b3ed413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d9c5a050c84dce" /><Relationship Type="http://schemas.openxmlformats.org/officeDocument/2006/relationships/notesMaster" Target="/ppt/notesMasters/notesMaster1.xml" Id="R4a895576b4a042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5bef155b6e40cf" /><Relationship Type="http://schemas.openxmlformats.org/officeDocument/2006/relationships/notesMaster" Target="/ppt/notesMasters/notesMaster1.xml" Id="Ra7eec1c200eb4c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2c7daed1ba440a" /><Relationship Type="http://schemas.openxmlformats.org/officeDocument/2006/relationships/notesMaster" Target="/ppt/notesMasters/notesMaster1.xml" Id="R990c389de1c44b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e29f85518345b5" /><Relationship Type="http://schemas.openxmlformats.org/officeDocument/2006/relationships/notesMaster" Target="/ppt/notesMasters/notesMaster1.xml" Id="R8926232fd49843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5b68e61e3443e2" /><Relationship Type="http://schemas.openxmlformats.org/officeDocument/2006/relationships/notesMaster" Target="/ppt/notesMasters/notesMaster1.xml" Id="R586c7c23b44743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bbe0e076254513" /><Relationship Type="http://schemas.openxmlformats.org/officeDocument/2006/relationships/notesMaster" Target="/ppt/notesMasters/notesMaster1.xml" Id="R63165b1bad1644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93a4361d73481c" /><Relationship Type="http://schemas.openxmlformats.org/officeDocument/2006/relationships/notesMaster" Target="/ppt/notesMasters/notesMaster1.xml" Id="Rc987c218b19e43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de la reunión: compromiso nominal y tiempo protegido para ejecutar el plan. El usuario confirmó convivencia gradual y objetivo de módulos productivos, smoke y paralelo desde 04/11. La información DIARCO/SGM sigue válida. Documento propuesto, sin aceptaciones inferidas. Fuente: instrucciones del usuario, 29/10/2026.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basta con recibir nombres. Cada jefatura confirma capacidad y qué tarea habitual se redistribuye. No hay aceptación tácita.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S01. Solicitud del usuario. Necesidad de compromiso DIARCO, referentes, WBS, formación, UAT y soporte. Conversación de trabajo</a:t>
            </a:r>
          </a:p>
          <a:p xmlns:a="http://schemas.openxmlformats.org/drawingml/2006/main">
            <a:r>
              <a:t>S12. Nombres y cargos informados por el usuario. Pablo Bertolissio, Roberto Goldfarb, Daniel Padin, Luciano Calcagno y Eduardo Ettlin. Facultades de proyecto propuestas, no aceptadas todavía. Conversación de trabajo</a:t>
            </a:r>
          </a:p>
          <a:p xmlns:a="http://schemas.openxmlformats.org/drawingml/2006/main">
            <a:r>
              <a:t>S13. Objetivo de paralelo desde 04/11. Instrucción más reciente: disponibilidad de módulos productivos, smoke tests y algunos días de paralelo desde 04/11, aceptación progresiva. Sigue valiendo información DIARCO/SGM. Conversación de trabajo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cargos fueron informados por el usuario. Las funciones de proyecto son propuestas, pendientes de acuerdo. No asignar a estos directivos todas las tareas operativas. El líder DIARCO, referentes, suplentes, IT y mesa aún deben designarse.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S12. Nombres y cargos informados por el usuario. Pablo Bertolissio, Roberto Goldfarb, Daniel Padin, Luciano Calcagno y Eduardo Ettlin. Facultades de proyecto propuestas, no aceptadas todavía. Conversación de trabajo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macro según Estrategia elegida y IMPLEMENTACION. El cierre de GAPS fija el detalle de cada oleada. Precio de venta y kardex pertenecen a la consolidación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S10. Plan de Despliegue - Estrategia. Fuente rectora elegida expresamente por el usuario. Convivencia gradual. 07/11 disponibilidad, 09/11 pruebas previstas. CNX_BLOQUE1/documentacion/Plan de Despliegue - Estrategia.md</a:t>
            </a:r>
          </a:p>
          <a:p xmlns:a="http://schemas.openxmlformats.org/drawingml/2006/main">
            <a:r>
              <a:t>S15. Plan_Connexa_20261016.pdf. Módulos, validadores e infraestructura AP/PDA. Fechas y corte total quedan subordinados a S10/S13 por instrucción del usuario. https://drive.google.com/file/d/15phYIe_bxgcxKCC2tlU0dLbj8AQxeKlH/view</a:t>
            </a:r>
          </a:p>
          <a:p xmlns:a="http://schemas.openxmlformats.org/drawingml/2006/main">
            <a:r>
              <a:t>S16. Resumen ejecutivo post reuniones 20/10. Aprobación única OC, OC madre/PDA, gobierno de maestros y compromisos VKM. No prueba que acciones posteriores se cumplieron. https://drive.google.com/file/d/12nzA5UzuvW4hFuwNvo7B9BM548QpNfdr/view</a:t>
            </a:r>
          </a:p>
          <a:p xmlns:a="http://schemas.openxmlformats.org/drawingml/2006/main">
            <a:r>
              <a:t>S22. Auditoría. Guillermo Alvez, interlocutor. Gobierno de datos y workflows requieren definición organizativa. https://drive.google.com/file/d/12NzBdTsjvkwqv7ZnndETBb2hQuCScixH/view</a:t>
            </a:r>
          </a:p>
          <a:p xmlns:a="http://schemas.openxmlformats.org/drawingml/2006/main">
            <a:r>
              <a:t>S23. Compradores. Romina Garfi, Roxana Frutos, Paloma Romero y Diego Baldi, interlocutores. OC madre y descuentos requieren pruebas. https://drive.google.com/file/d/1QRjn1y4a-0DLcG3nCLujM8VaB0FBFPzl/view</a:t>
            </a:r>
          </a:p>
          <a:p xmlns:a="http://schemas.openxmlformats.org/drawingml/2006/main">
            <a:r>
              <a:t>S25. Listas de proveedores. Sebastián Basconcelos según esta minuta. Reglas de netos, precedencia y bonificaciones a validar. https://drive.google.com/file/d/14fA4uzvnh88GG3A8Puim1tiVch5RGl3A/view</a:t>
            </a:r>
          </a:p>
          <a:p xmlns:a="http://schemas.openxmlformats.org/drawingml/2006/main">
            <a:r>
              <a:t>S13. Objetivo de paralelo desde 04/11. Instrucción más reciente: disponibilidad de módulos productivos, smoke tests y algunos días de paralelo desde 04/11, aceptación progresiva. Sigue valiendo información DIARCO/SGM. Conversación de trabajo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necesidades PDD de planificación de transferencias/viajes. No asignar a PDD reservas, transporte o ejecución WMS que su contrato excluye. La planificación logística tiene su propio frente e integración.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S10. Plan de Despliegue - Estrategia. Fuente rectora elegida expresamente por el usuario. Convivencia gradual. 07/11 disponibilidad, 09/11 pruebas previstas. CNX_BLOQUE1/documentacion/Plan de Despliegue - Estrategia.md</a:t>
            </a:r>
          </a:p>
          <a:p xmlns:a="http://schemas.openxmlformats.org/drawingml/2006/main">
            <a:r>
              <a:t>S15. Plan_Connexa_20261016.pdf. Módulos, validadores e infraestructura AP/PDA. Fechas y corte total quedan subordinados a S10/S13 por instrucción del usuario. https://drive.google.com/file/d/15phYIe_bxgcxKCC2tlU0dLbj8AQxeKlH/view</a:t>
            </a:r>
          </a:p>
          <a:p xmlns:a="http://schemas.openxmlformats.org/drawingml/2006/main">
            <a:r>
              <a:t>S16. Resumen ejecutivo post reuniones 20/10. Aprobación única OC, OC madre/PDA, gobierno de maestros y compromisos VKM. No prueba que acciones posteriores se cumplieron. https://drive.google.com/file/d/12nzA5UzuvW4hFuwNvo7B9BM548QpNfdr/view</a:t>
            </a:r>
          </a:p>
          <a:p xmlns:a="http://schemas.openxmlformats.org/drawingml/2006/main">
            <a:r>
              <a:t>S07. PDD alcance Fase 1 v1.1. Alcance específico de PDD. Fase 1 no equivale a Bloque 1 del programa. PDD/PDD - ALCANCE Fase 1.md</a:t>
            </a:r>
          </a:p>
          <a:p xmlns:a="http://schemas.openxmlformats.org/drawingml/2006/main">
            <a:r>
              <a:t>S19. Relanzar Recepción e Inventarios. Disponibilidad y confiabilidad de stock se validan por separado. Wi-Fi, PDA, tienda escuela y primeras sucursales pendientes. https://drive.google.com/file/d/13gg2896DrzNJE-QJPVw9ZjxIwO77xM82/view</a:t>
            </a:r>
          </a:p>
          <a:p xmlns:a="http://schemas.openxmlformats.org/drawingml/2006/main">
            <a:r>
              <a:t>S20. Equipo técnico SM-MO-EWE. Pruebas parciales informadas; pendientes SGM, autorizaciones, remitos, túnel, maestros y PDA/QR. No acredita cierre del 26/10. https://drive.google.com/file/d/1NJY0-0vUk1PjiCopLtRTub1ZE-hMo3Hx/view</a:t>
            </a:r>
          </a:p>
          <a:p xmlns:a="http://schemas.openxmlformats.org/drawingml/2006/main">
            <a:r>
              <a:t>S24. Logística y Valkimia. Christian Rojas/Gastón en Logística. API/Excel y redespachos no son una especificación aprobada. https://drive.google.com/file/d/1aY5pXBry83kI8Fs4pHE2cmezpGWFic3r/view</a:t>
            </a:r>
          </a:p>
          <a:p xmlns:a="http://schemas.openxmlformats.org/drawingml/2006/main">
            <a:r>
              <a:t>S27. Informe ejecutivo 23/10. Última evidencia de reuniones al 22/10. No acredita cierre posterior de recuperación, integración o aceptación B1. https://drive.google.com/file/d/1MiOVTdg-nJS0WnxPQHmkiJBW_sF3PKtP/view</a:t>
            </a:r>
          </a:p>
          <a:p xmlns:a="http://schemas.openxmlformats.org/drawingml/2006/main">
            <a:r>
              <a:t>S13. Objetivo de paralelo desde 04/11. Instrucción más reciente: disponibilidad de módulos productivos, smoke tests y algunos días de paralelo desde 04/11, aceptación progresiva. Sigue valiendo información DIARCO/SGM. Conversación de trabajo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instrucción del usuario sustituye las fechas anteriores de arranque 07/11 y 09/11. No se interpreta 04/11 como aceptación total. Algunos días de paralelo por módulo, con duración/ciclos acordados.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S13. Objetivo de paralelo desde 04/11. Instrucción más reciente: disponibilidad de módulos productivos, smoke tests y algunos días de paralelo desde 04/11, aceptación progresiva. Sigue valiendo información DIARCO/SGM. Conversación de trabajo</a:t>
            </a:r>
          </a:p>
          <a:p xmlns:a="http://schemas.openxmlformats.org/drawingml/2006/main">
            <a:r>
              <a:t>S10. Plan de Despliegue - Estrategia. Fuente rectora elegida expresamente por el usuario. Convivencia gradual. 07/11 disponibilidad, 09/11 pruebas previstas. CNX_BLOQUE1/documentacion/Plan de Despliegue - Estrategia.md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la misma OC con identificadores vinculados. El resultado esperado se aprueba con negocio e Impuestos antes de ejecutar. La coincidencia entre dos sistemas no prueba por sí sola que la regla sea correcta. Evitar diferencias compensadas entre líneas. SGM conserva validez y el emisor al proveedor es único.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S13. Objetivo de paralelo desde 04/11. Instrucción más reciente: disponibilidad de módulos productivos, smoke tests y algunos días de paralelo desde 04/11, aceptación progresiva. Sigue valiendo información DIARCO/SGM. Conversación de trabajo</a:t>
            </a:r>
          </a:p>
          <a:p xmlns:a="http://schemas.openxmlformats.org/drawingml/2006/main">
            <a:r>
              <a:t>S16. Resumen ejecutivo post reuniones 20/10. Aprobación única OC, OC madre/PDA, gobierno de maestros y compromisos VKM. No prueba que acciones posteriores se cumplieron. https://drive.google.com/file/d/12nzA5UzuvW4hFuwNvo7B9BM548QpNfdr/view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Aplicar T02 compromiso individual y guía del módulo. Cada tarea tiene R/A, predecesoras y criterio de cierre. El dueño del proceso conserva la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S01. Solicitud del usuario. Necesidad de compromiso DIARCO, referentes, WBS, formación, UAT y soporte. Conversación de trabajo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 de secuencia por módulo. El libro contiene 112 actividades, con dependencias y campos para nombres, fechas, evidencia y aceptación. No presenta ejecución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  <a:p xmlns:a="http://schemas.openxmlformats.org/drawingml/2006/main">
            <a:r>
              <a:t>S13. Objetivo de paralelo desde 04/11. Instrucción más reciente: disponibilidad de módulos productivos, smoke tests y algunos días de paralelo desde 04/11, aceptación progresiva. Sigue valiendo información DIARCO/SGM. Conversación de trabajo</a:t>
            </a:r>
          </a:p>
          <a:p xmlns:a="http://schemas.openxmlformats.org/drawingml/2006/main">
            <a:r>
              <a:t>S19. Relanzar Recepción e Inventarios. Disponibilidad y confiabilidad de stock se validan por separado. Wi-Fi, PDA, tienda escuela y primeras sucursales pendientes. https://drive.google.com/file/d/13gg2896DrzNJE-QJPVw9ZjxIwO77xM82/view</a:t>
            </a:r>
          </a:p>
          <a:p xmlns:a="http://schemas.openxmlformats.org/drawingml/2006/main">
            <a:r>
              <a:t>S20. Equipo técnico SM-MO-EWE. Pruebas parciales informadas; pendientes SGM, autorizaciones, remitos, túnel, maestros y PDA/QR. No acredita cierre del 26/10. https://drive.google.com/file/d/1NJY0-0vUk1PjiCopLtRTub1ZE-hMo3Hx/view</a:t>
            </a:r>
          </a:p>
          <a:p xmlns:a="http://schemas.openxmlformats.org/drawingml/2006/main">
            <a:r>
              <a:t>S27. Informe ejecutivo 23/10. Última evidencia de reuniones al 22/10. No acredita cierre posterior de recuperación, integración o aceptación B1. https://drive.google.com/file/d/1MiOVTdg-nJS0WnxPQHmkiJBW_sF3PKtP/view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formación comienza con referentes y suplentes, luego se replica por rol/oleada. Material: ficha del proceso, guía rápida con capturas verificadas, dataset/casos dorados, FAQ, evaluación, runbook y ticket. Materiales específicos de pantalla se completan sobre la versión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S01. Solicitud del usuario. Necesidad de compromiso DIARCO, referentes, WBS, formación, UAT y soporte. Conversación de trabajo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mesa mantiene el ticket principal hasta la confirmación de recuperación. Falla grave: escalar de inmediato a IT y L2 dentro de la cobertura acordada. Los objetivos de atención del documento son propuestas, sin asumir 24x7.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S01. Solicitud del usuario. Necesidad de compromiso DIARCO, referentes, WBS, formación, UAT y soporte. Conversación de trabajo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Umbrales metodológicos propuestos, pendientes de acuerdo: 100% casos críticos aplicables aprobados, cero defectos críticos/altos del circuito, al menos dos ciclos incluyendo una excepción, cinco días operativos estables para transferencia y ciclo completo si infrecuente. No se rebajan controles técnicos vigentes.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  <a:p xmlns:a="http://schemas.openxmlformats.org/drawingml/2006/main">
            <a:r>
              <a:t>S13. Objetivo de paralelo desde 04/11. Instrucción más reciente: disponibilidad de módulos productivos, smoke tests y algunos días de paralelo desde 04/11, aceptación progresiva. Sigue valiendo información DIARCO/SGM. Conversación de trabajo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Fechas objetivo de la propuesta. No hay aceptación por calendario. Si falta preparación de un módulo, registrar bloqueo y permitir avanzar a los módulos que sí cumplen las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S13. Objetivo de paralelo desde 04/11. Instrucción más reciente: disponibilidad de módulos productivos, smoke tests y algunos días de paralelo desde 04/11, aceptación progresiva. Sigue valiendo información DIARCO/SGM. Conversación de trabajo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sugerido: leer nombres, horas, fecha y evidencia esperada en voz alta. Roberto Goldfarb brinda patrocinio institucional propuesto. Pablo Bertolissio asume sponsor operativo propuesto. Daniel Padin compromiso ejecutivo Zeetrex. Luciano/Eduardo funciones de coordinación y técnica propuestas. El líder operativo DIARCO sigue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S01. Solicitud del usuario. Necesidad de compromiso DIARCO, referentes, WBS, formación, UAT y soporte. Conversación de trabajo</a:t>
            </a:r>
          </a:p>
          <a:p xmlns:a="http://schemas.openxmlformats.org/drawingml/2006/main">
            <a:r>
              <a:t>S12. Nombres y cargos informados por el usuario. Pablo Bertolissio, Roberto Goldfarb, Daniel Padin, Luciano Calcagno y Eduardo Ettlin. Facultades de proyecto propuestas, no aceptadas todavía. Conversación de trabajo</a:t>
            </a:r>
          </a:p>
          <a:p xmlns:a="http://schemas.openxmlformats.org/drawingml/2006/main">
            <a:r>
              <a:t>S13. Objetivo de paralelo desde 04/11. Instrucción más reciente: disponibilidad de módulos productivos, smoke tests y algunos días de paralelo desde 04/11, aceptación progresiva. Sigue valiendo información DIARCO/SGM. Conversación de trabajo</a:t>
            </a:r>
          </a:p>
          <a:p xmlns:a="http://schemas.openxmlformats.org/drawingml/2006/main">
            <a:r>
              <a:t>S09. Diseño de este kit. Roles, actividades, tiempos, umbrales y prioridades son propuestas a validar. Zeetrex / CNX_BLOQUE1 v0.1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70ace85484a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75ccb260349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6a9fadbce44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59ec848fd4f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865b030b54b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02a0f6bb5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E2D06C-39CB-408B-B15C-C5AF34311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3CAD0C-16F1-4FFE-ACEE-90622DC67D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3FABCE-3EC4-42BA-A14D-E3B18E84AF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69FC1E-E5C7-4C53-AFA9-1DE9BF6624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AB4B93-3802-45BC-A651-ABF11753D2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1D7546-41FD-476C-ADBD-590D9C09F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89E943-06BE-446D-BAD4-CA83B92760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971980-8189-4D22-9A20-AAC97CD841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32FDD1-85D0-4397-A0AC-B40DA4939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C7088E-47AA-4413-98D3-FEE08A3754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521fa960d046a8" /><Relationship Type="http://schemas.openxmlformats.org/officeDocument/2006/relationships/slideLayout" Target="/ppt/slideLayouts/slideLayout1.xml" Id="R173cbe5bf9944fd1" /><Relationship Type="http://schemas.openxmlformats.org/officeDocument/2006/relationships/slideLayout" Target="/ppt/slideLayouts/slideLayout2.xml" Id="R327a93ae5d7d4f50" /><Relationship Type="http://schemas.openxmlformats.org/officeDocument/2006/relationships/slideLayout" Target="/ppt/slideLayouts/slideLayout3.xml" Id="Rc08c2d126a4b415b" /><Relationship Type="http://schemas.openxmlformats.org/officeDocument/2006/relationships/slideLayout" Target="/ppt/slideLayouts/slideLayout4.xml" Id="Rf39dd73312d84114" /><Relationship Type="http://schemas.openxmlformats.org/officeDocument/2006/relationships/slideLayout" Target="/ppt/slideLayouts/slideLayout5.xml" Id="R787199c5c86144f7" /><Relationship Type="http://schemas.openxmlformats.org/officeDocument/2006/relationships/slideLayout" Target="/ppt/slideLayouts/slideLayout6.xml" Id="Rdf29fe5bc51343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3cbe5bf9944fd1"/>
    <p:sldLayoutId xmlns:r="http://schemas.openxmlformats.org/officeDocument/2006/relationships" id="2147483650" r:id="R327a93ae5d7d4f50"/>
    <p:sldLayoutId xmlns:r="http://schemas.openxmlformats.org/officeDocument/2006/relationships" id="2147483651" r:id="Rc08c2d126a4b415b"/>
    <p:sldLayoutId xmlns:r="http://schemas.openxmlformats.org/officeDocument/2006/relationships" id="2147483652" r:id="Rf39dd73312d84114"/>
    <p:sldLayoutId xmlns:r="http://schemas.openxmlformats.org/officeDocument/2006/relationships" id="2147483653" r:id="R787199c5c86144f7"/>
    <p:sldLayoutId xmlns:r="http://schemas.openxmlformats.org/officeDocument/2006/relationships" id="2147483654" r:id="Rdf29fe5bc51343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5243cd9034142" /><Relationship Type="http://schemas.openxmlformats.org/officeDocument/2006/relationships/notesSlide" Target="/ppt/notesSlides/notesSlide1.xml" Id="R541bc0e8f79744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34dc8d143433f" /><Relationship Type="http://schemas.openxmlformats.org/officeDocument/2006/relationships/notesSlide" Target="/ppt/notesSlides/notesSlide2.xml" Id="R455db9f61f5144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45c4405124d1a" /><Relationship Type="http://schemas.openxmlformats.org/officeDocument/2006/relationships/notesSlide" Target="/ppt/notesSlides/notesSlide3.xml" Id="R15f64bd0ce1f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315531f0a47ab" /><Relationship Type="http://schemas.openxmlformats.org/officeDocument/2006/relationships/notesSlide" Target="/ppt/notesSlides/notesSlide4.xml" Id="Rfe547fb09c03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a8ecb113e2438b" /><Relationship Type="http://schemas.openxmlformats.org/officeDocument/2006/relationships/notesSlide" Target="/ppt/notesSlides/notesSlide5.xml" Id="R8d19e5fb36c644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5050a1d0a54b6b" /><Relationship Type="http://schemas.openxmlformats.org/officeDocument/2006/relationships/notesSlide" Target="/ppt/notesSlides/notesSlide6.xml" Id="Rdee4f459fa8146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22ae8835e4ddd" /><Relationship Type="http://schemas.openxmlformats.org/officeDocument/2006/relationships/notesSlide" Target="/ppt/notesSlides/notesSlide7.xml" Id="R747f3b71155247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b220d50b6479d" /><Relationship Type="http://schemas.openxmlformats.org/officeDocument/2006/relationships/notesSlide" Target="/ppt/notesSlides/notesSlide8.xml" Id="R12c233afe3d545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0d45fa4224914" /><Relationship Type="http://schemas.openxmlformats.org/officeDocument/2006/relationships/notesSlide" Target="/ppt/notesSlides/notesSlide9.xml" Id="Rb9151b2124d343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57c8c413d04947" /><Relationship Type="http://schemas.openxmlformats.org/officeDocument/2006/relationships/notesSlide" Target="/ppt/notesSlides/notesSlide10.xml" Id="Rd06c1c700ade42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4de2906324cec" /><Relationship Type="http://schemas.openxmlformats.org/officeDocument/2006/relationships/notesSlide" Target="/ppt/notesSlides/notesSlide11.xml" Id="R6d2070115fdb44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0a53d06c14d50" /><Relationship Type="http://schemas.openxmlformats.org/officeDocument/2006/relationships/notesSlide" Target="/ppt/notesSlides/notesSlide12.xml" Id="R885b1025103b46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3955c78644e46" /><Relationship Type="http://schemas.openxmlformats.org/officeDocument/2006/relationships/notesSlide" Target="/ppt/notesSlides/notesSlide13.xml" Id="R749ca379dbda4e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939922b5a24844" /><Relationship Type="http://schemas.openxmlformats.org/officeDocument/2006/relationships/notesSlide" Target="/ppt/notesSlides/notesSlide14.xml" Id="R9c4a31886a4b4a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3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0FCFF-4268-4B85-B9D5-F688D68C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9DB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9DBED"/>
                </a:solidFill>
                <a:latin typeface="Arial"/>
                <a:ea typeface="Arial"/>
                <a:cs typeface="Arial"/>
              </a:rPr>
              <a:t>DIARCO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90C16-FAA8-42A8-A8C9-97196704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Implementación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 Bloque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BAE0A-59CC-4FE7-838D-59BE70EB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Equipo, paralelo y aceptación por módulo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64F7F-70B7-4A1D-A72E-A4C1775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7D8E5"/>
                </a:solidFill>
                <a:latin typeface="Arial"/>
                <a:ea typeface="Arial"/>
                <a:cs typeface="Arial"/>
              </a:rPr>
              <a:t>Dirección DIARCO y Zeetrex</a:t>
            </a:r>
          </a:p>
          <a:p xmlns:a="http://schemas.openxmlformats.org/drawingml/2006/main">
            <a:pPr>
              <a:defRPr sz="1725" b="0">
                <a:solidFill>
                  <a:srgbClr val="C7D8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7D8E5"/>
                </a:solidFill>
                <a:latin typeface="Arial"/>
                <a:ea typeface="Arial"/>
                <a:cs typeface="Arial"/>
              </a:rPr>
              <a:t>Lunes 02/11/2026 · Propuesta para acordar</a:t>
            </a:r>
          </a:p>
        </p:txBody>
      </p:sp>
    </p:spTree>
    <p:extLst>
      <p:ext uri="{BB962C8B-B14F-4D97-AF65-F5344CB8AC3E}">
        <p14:creationId xmlns:p14="http://schemas.microsoft.com/office/powerpoint/2010/main" val="1595790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B47B7-6CF3-4DD0-8F5A-3B2C3EEA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El lunes debe quedar un equipo comprometido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A80DD-3979-47CD-A936-2643D50A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05677-FA9D-40B6-9366-11194CD6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9A543-CE58-4E4B-A614-941CAA1C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76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Sponsor y líder operativo DIARCO con facultades claras.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7F8C3-3D84-4C0E-AB49-DAA3EB99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76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Dueño, referente titular y suplente por módulo.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48C8D-7706-4812-9812-FE1F3ABD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76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Horas protegidas y ventanas de prueba autorizadas.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82D7A-AA8E-4A1C-9E87-B00F518C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76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IT y mesa de ayuda incorporados desde la preparación.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58BBB-7A7A-441B-AD9D-C044A7C8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76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Población del paralelo y reglas de aceptación acordadas.</a:t>
            </a:r>
          </a:p>
        </p:txBody>
      </p:sp>
    </p:spTree>
    <p:extLst>
      <p:ext uri="{BB962C8B-B14F-4D97-AF65-F5344CB8AC3E}">
        <p14:creationId xmlns:p14="http://schemas.microsoft.com/office/powerpoint/2010/main" val="819480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9A868-9914-4B04-AE65-8DDB049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Gobierno propuesto con los nombres disponibles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FB0AC-ACB7-4521-86B8-659B99B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65D04-1173-4391-997C-B095B2DB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CCB71-4876-40D9-84F3-DD66A8F8A0B7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762250"/>
                <a:gridCol w="5543550"/>
              </a:tblGrid>
              <a:tr h="6191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Persona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Cargo informado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Función propuesta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</a:tr>
              <a:tr h="6191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Pablo Bertolissio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Gerente General DIARCO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Sponsor operativo DIARCO (SP)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Roberto Goldfarb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Owner DIARCO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Patrocinio institucional y escalación estratégica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191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Daniel Padin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CEO Zeetrex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Sponsor ejecutivo Zeetrex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Luciano Calcagno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POO Zeetrex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Líder implementación Zeetrex (LZ)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191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Eduardo Ettlin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CTO Zeetrex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Autoridad técnica y coordinación L2 (ZT)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3B1A4-521C-4121-9F01-34FE51D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A631A"/>
                </a:solidFill>
                <a:latin typeface="Arial"/>
                <a:ea typeface="Arial"/>
                <a:cs typeface="Arial"/>
              </a:rPr>
              <a:t>Falta designar el equipo operativo DIARCO y confirmar su dedicación.</a:t>
            </a:r>
          </a:p>
        </p:txBody>
      </p:sp>
    </p:spTree>
    <p:extLst>
      <p:ext uri="{BB962C8B-B14F-4D97-AF65-F5344CB8AC3E}">
        <p14:creationId xmlns:p14="http://schemas.microsoft.com/office/powerpoint/2010/main" val="670429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E0BD0-06C4-4020-B8A5-F56F13E7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Bloque 1 comercial: preparación y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D5060-65F0-4A70-A22C-889E8D96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00138-4584-40D9-B101-F8E0DB0A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4263F-99E8-4A18-B9AB-F90717D3DE39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5572125"/>
                <a:gridCol w="2876550"/>
              </a:tblGrid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debe demostrar DIARCO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Referente a confirmar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Catálogo y maestros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Datos correctos y cambio trazable en los destinos.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Guillermo Alvez / Datos Maestros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Surtido y clusters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Elegibilidad y excepciones por artículo/sucursal.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Liliana D’Amico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Listas y acuerdos de compra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Vigencias, descuentos y netos explicables.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Sebastián Basconcelos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Abastecimiento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Propuesta revisada con entradas y motivos visibles.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Romina Garfi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OC e integración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Aprobación única y valorización conciliada.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Compras / Romina Garfi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7C10E-C1E4-42DD-8F9E-950FC41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Los interlocutores de las fuentes todavía deben aceptar función, suplencia y horas.</a:t>
            </a:r>
          </a:p>
        </p:txBody>
      </p:sp>
    </p:spTree>
    <p:extLst>
      <p:ext uri="{BB962C8B-B14F-4D97-AF65-F5344CB8AC3E}">
        <p14:creationId xmlns:p14="http://schemas.microsoft.com/office/powerpoint/2010/main" val="1740078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4C14A-42D9-47F3-977A-E7176E7D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Bloque 1 operativo: convivencia con SGM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2ADDC-60B1-4B53-97CB-4702667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EFF74-55D6-4D13-81FB-B7B22D1B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77AF2-7907-43B5-BC13-6619C445E540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714875"/>
                <a:gridCol w="3733800"/>
              </a:tblGrid>
              <a:tr h="682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se valida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Condición operativa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</a:tr>
              <a:tr h="682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Recepción PDA / WEB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Cantidades, diferencias y pendientes.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Stock y pendientes oficiales en SGM.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Inventarios y ajustes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Conteo, autorización y ajuste una sola vez.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Impacto definitivo en SGM.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82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PDD y necesidades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Parámetros, cálculo y backlog trazables.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Cobertura Inventory y contrato vigente.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Transferencias / distribución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Intercambio y retorno con Valkimia.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API o Excel validado con CD/VKM.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82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Stock y observabilidad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Conciliación, alertas y recuperación.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Dueños, cortes y latencias acordados.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123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BAE85-E81F-4CCF-9E94-9AA0E3AA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Desde el 04/11: smoke, paralelo y aceptación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EE740-85A4-4656-9B7E-29DF321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71C5C-6699-48A8-A8E7-2F0EA445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6BF76-4BF6-47CD-BEA2-14080B4C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8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0FDA0-440E-47E6-9570-9BCB73E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678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1539C-1812-46C5-AD9F-05D1C271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567D4-B45E-47E2-A9D0-8134B823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19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Versión productiva, población y accesos controlados.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18D12-F5C7-4CD1-829D-EAF78F9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62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62B4D-D4B6-4E6B-B5D4-C3FD2F62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678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D3261-21D6-454F-9C19-198861F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Smoke del flujo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86931-F72C-41C8-A42F-D080E916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29050"/>
            <a:ext cx="2419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El recorrido mínimo funciona y deja trazabilidad.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1F09A-A828-4034-B8DD-FBD93FF2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8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7159E-1212-468E-80B1-0FB937E3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678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E1FE5-61E7-4E67-8091-A1ED5A2D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Paralelo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3E058-88AA-411B-8E08-CC695994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2419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Comparación con DIARCO/SGM durante los ciclos acordados.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5C5B2-8A33-4455-9378-0DEE327F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62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8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798A5-5C08-42DB-82BE-F015D79E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6678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678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09F5B-4F2A-4E10-9241-993EBC3C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Aceptación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132B0-74C7-4420-ABFB-A014BFC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29050"/>
            <a:ext cx="2419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El dueño acepta evidencia y pendientes del módulo.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D007A-91A6-456D-B06D-9104F445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A631A"/>
                </a:solidFill>
                <a:latin typeface="Arial"/>
                <a:ea typeface="Arial"/>
                <a:cs typeface="Arial"/>
              </a:rPr>
              <a:t>Durante el paralelo sigue valiendo la información DIARCO/SGM.</a:t>
            </a:r>
          </a:p>
        </p:txBody>
      </p:sp>
    </p:spTree>
    <p:extLst>
      <p:ext uri="{BB962C8B-B14F-4D97-AF65-F5344CB8AC3E}">
        <p14:creationId xmlns:p14="http://schemas.microsoft.com/office/powerpoint/2010/main" val="1130961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8DB93-D495-4A0A-8685-4CD9C071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La OC valorizada se acepta con una comparación completa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FF277-117A-44DE-A696-4D0B3149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F9DBF-21EE-4653-A029-A70957AB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096D4-BD00-4F67-8246-122789337593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508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Grupo de control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Comparación requerida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</a:tr>
              <a:tr h="6508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Identidad y contexto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Proveedor, sucursal, fecha, moneda, lista y versión.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Cada línea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Artículo, unidad, cantidad, precio y descuentos en su orden.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508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Valorización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Neto, internos, IVA, redondeos y total.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Autorización y destino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Una aprobación, números vinculados y acuse funcional.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5087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Cada diferencia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Connexa, DIARCO/SGM, esperado, tolerancia, causa y reprueba.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0FEAB-F60A-4AE2-9C99-1D8BCB22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631A"/>
                </a:solidFill>
                <a:latin typeface="Arial"/>
                <a:ea typeface="Arial"/>
                <a:cs typeface="Arial"/>
              </a:rPr>
              <a:t>Una sola comunicación al proveedor. Sin duplicar documentos para comparar.</a:t>
            </a:r>
          </a:p>
        </p:txBody>
      </p:sp>
    </p:spTree>
    <p:extLst>
      <p:ext uri="{BB962C8B-B14F-4D97-AF65-F5344CB8AC3E}">
        <p14:creationId xmlns:p14="http://schemas.microsoft.com/office/powerpoint/2010/main" val="536050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19452-3A38-4159-B78F-E0732A8B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Cada referente recibe un paquete concreto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A901E-A71D-426C-B61C-01D53271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9980E-370D-45EE-81D1-7299751D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5BD92-F1D8-416A-B4D7-BFB84CAC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Tiene que hacer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1FBB3-9522-4B69-B275-3B7FFD90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095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Preparar datos y casos representativos.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F577B-4916-4663-AE40-BAA2F39F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5095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Ejecutar UAT y guardar evidencia.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246C5-D963-43D6-8AE0-69B4CDAC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095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Formar usuarios y mantener las guías.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BEB0E-61D1-427A-B495-B6D77534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095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Resolver consultas L1 de su módulo.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5C0BE-6CAA-4DDA-93FB-B8BEB67B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192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Tiene que saber y asumir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6ED07-7BD7-41E1-A585-994B8173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5219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Explicar entradas, reglas y controles.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F0CA2-15E3-4162-BDF1-11AA752B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28975"/>
            <a:ext cx="5219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Detectar y escalar una excepción.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4DECF-71E2-4A77-9DD8-95D3F72B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5219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Trabajar con un suplente preparado.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BD20C-B67B-43BF-94E5-FB2A7DD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0125"/>
            <a:ext cx="5219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Sostener el proceso después del proyecto.</a:t>
            </a:r>
          </a:p>
        </p:txBody>
      </p:sp>
    </p:spTree>
    <p:extLst>
      <p:ext uri="{BB962C8B-B14F-4D97-AF65-F5344CB8AC3E}">
        <p14:creationId xmlns:p14="http://schemas.microsoft.com/office/powerpoint/2010/main" val="2026175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BAC11-934E-41AF-81DE-26D05D4C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El WBS vincula tareas, responsables y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4E8F3-2E41-4692-B9F2-BF556963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64B9C-B585-4059-B40D-A2FCA83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082B4-2DE5-40EC-B19D-AA2578948F6B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2762250"/>
                <a:gridCol w="2686050"/>
              </a:tblGrid>
              <a:tr h="598714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Secuencia del módulo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Ejecuta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Acepta / responde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</a:tr>
              <a:tr h="598714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Preparar casos y datos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Referente DIARCO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Dueño del proceso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Validar reglas y configuración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Referente DIARCO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Dueño del proceso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598714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Formar titular y suplente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Funcional Zeetrex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Líder Zeetrex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Ejecutar UAT y excepciones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Referente + usuarios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Dueño del proceso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598714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Comparar en paralelo y reprobar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DIARCO + Zeetrex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Dueño del proceso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Transferir y recomendar expansión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Referente DIARCO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Dueño del proceso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274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19ACF-F3B6-429F-9022-C473DFA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La capacitación debe demostrar autonomía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5A36A-4E90-4FFD-9003-F2C407B2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3DD6E-BF32-49F2-8FCD-9362DDB0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13823-E21B-49BD-81B6-AB2468BA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1. Zeetrex demuestra el circuito y sus controles.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AD8FB-B3FE-4768-9B00-8D3DF60D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85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2. El referente y su suplente practican con casos reales.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6482A-60FC-4481-8B19-13F03C99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85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3. Cada persona ejecuta las tareas críticas sin ayuda paso a paso.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EB962-C41E-4919-823F-EF72C73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85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4. El referente forma al resto y verifica la práctica.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C30DD-FB62-4795-922F-882CA160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85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5. Las dudas recurrentes actualizan la guía y la FAQ.</a:t>
            </a:r>
          </a:p>
        </p:txBody>
      </p:sp>
    </p:spTree>
    <p:extLst>
      <p:ext uri="{BB962C8B-B14F-4D97-AF65-F5344CB8AC3E}">
        <p14:creationId xmlns:p14="http://schemas.microsoft.com/office/powerpoint/2010/main" val="9913471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1A150-E497-473D-B68A-D1F3CDC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DIARCO sostiene L1 con Zeetrex como soporte especializado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459E1-C3D6-4574-8635-19BA4978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3FCD9-DAC3-450F-908F-5051ABFA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703FE-4A30-428B-93BE-468179C1EDC6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6588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 en el soporte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</a:tr>
              <a:tr h="6588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Mesa de ayuda DIARCO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Registrar impacto, clasificar, comunicar y seguir el caso.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Referente funcional L1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Resolver uso y reglas conocidas. Escalar errores de producto.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588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IT DIARCO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Accesos, conectividad, servicios y diagnóstico local autorizado.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Zeetrex L2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Diagnóstico especializado, integración y corrección controlada.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58813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Usuario / dueño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Confirmar recuperación y conciliación del resultado.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E663B-BB6A-497E-8AFB-F568DF95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A63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A631A"/>
                </a:solidFill>
                <a:latin typeface="Arial"/>
                <a:ea typeface="Arial"/>
                <a:cs typeface="Arial"/>
              </a:rPr>
              <a:t>Antes del paralelo: canal, cobertura, suplentes y un simulacro de atención.</a:t>
            </a:r>
          </a:p>
        </p:txBody>
      </p:sp>
    </p:spTree>
    <p:extLst>
      <p:ext uri="{BB962C8B-B14F-4D97-AF65-F5344CB8AC3E}">
        <p14:creationId xmlns:p14="http://schemas.microsoft.com/office/powerpoint/2010/main" val="15026206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D5D68-DD82-4267-B04E-ADAE3725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El avance requiere decisiones con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3AE87-9F27-4709-ACB2-88B20D63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BFBCE-3419-4F1F-8030-3211EBD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04B2E-9003-4689-9403-510AD906492E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5810250"/>
                <a:gridCol w="2638425"/>
              </a:tblGrid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 requerida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Quién decide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G0 · Compromiso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Alcance, personas, horas, población y soporte.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Sponsor DIARCO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G1 · Preparación / UAT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Datos, permisos, aprendizaje y casos críticos.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Dueño del proceso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G2 · Paralelo / piloto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Ciclos, excepciones y conciliación completa.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Sponsor con validaciones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G3 · Expansión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Usuarios, soporte, corte y contingencia.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Sponsor DIARCO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G4 · Transferencia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Estabilidad y autonomía de DIARCO/L1.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Sponsor con Operaciones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19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4C773-585F-4856-96AC-3AD012C5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La primera semana se organiza alrededor del 04/11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C8606-2981-433C-896A-FD5A00B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F875B-CB1C-4942-A2D0-14E374AE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B6A73-276B-48C8-9D3E-02A578B770B2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6191250"/>
                <a:gridCol w="3352800"/>
              </a:tblGrid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Fecha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Trabajo prioritario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T w="9525">
                      <a:solidFill>
                        <a:srgbClr val="D5DEE5"/>
                      </a:solidFill>
                      <a:prstDash val="solid"/>
                    </a:lnT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19334C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30/10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Cerrar GAPS, preparar datos y proponer asignaciones.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Material de decisión.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02/11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Dirección confirma equipo, horas y población.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Acta y calendario operativo.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03/11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Formación mínima, esperado, accesos y controles.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Módulos preparados para smoke.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04/11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Disponibilidad controlada, smoke y primer paralelo.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Flujos mínimos y comparación OC.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EBF0F4"/>
                    </a:solidFill>
                  </a:tcPr>
                </a:tc>
              </a:tr>
              <a:tr h="6667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05–06/11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EE5"/>
                      </a:solidFill>
                      <a:prstDash val="solid"/>
                    </a:lnL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Continuar comparación, excepciones y repruebas.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748"/>
                          </a:solidFill>
                          <a:latin typeface="Arial"/>
                          <a:ea typeface="Arial"/>
                          <a:cs typeface="Arial"/>
                        </a:rPr>
                        <a:t>Aceptación progresiva o acciones pendientes.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EE5"/>
                      </a:solidFill>
                      <a:prstDash val="solid"/>
                    </a:lnR>
                    <a:lnB w="9525">
                      <a:solidFill>
                        <a:srgbClr val="D5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3264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7988B-0F3C-4F47-AA3A-BF4DF8D0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34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334C"/>
                </a:solidFill>
                <a:latin typeface="Arial"/>
                <a:ea typeface="Arial"/>
                <a:cs typeface="Arial"/>
              </a:rPr>
              <a:t>Compromisos que deben quedar en el acta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3EC22-5AF4-428F-B294-21FFD5F4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E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6D74B-4F1E-4836-B415-425D3CC5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B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31D38-BC23-4191-9B69-4DB1AC69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Quién lidera DIARCO y quién decide por cada proceso.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E18C2-92E9-4980-B61F-EDF18264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Quiénes serán titulares y suplentes, con horas liberadas.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7E8ED-FF25-49EF-A1DD-2B9B76CA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Qué módulos y población empiezan el paralelo desde el 04/11.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4EEA8-E6C1-4571-AF02-77B7B39F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Cómo se comparan resultados y quién firma aceptación.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04FC2-F4B0-446B-A425-6019047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7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8"/>
                </a:solidFill>
                <a:latin typeface="Arial"/>
                <a:ea typeface="Arial"/>
                <a:cs typeface="Arial"/>
              </a:rPr>
              <a:t>Qué cobertura de IT, mesa y Zeetrex acompaña cada ventana.</a:t>
            </a:r>
          </a:p>
        </p:txBody>
      </p:sp>
    </p:spTree>
    <p:extLst>
      <p:ext uri="{BB962C8B-B14F-4D97-AF65-F5344CB8AC3E}">
        <p14:creationId xmlns:p14="http://schemas.microsoft.com/office/powerpoint/2010/main" val="1599822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2026-10-29T23:51:51.7530000Z</dcterms:created>
  <dcterms:modified xsi:type="dcterms:W3CDTF">2026-10-29T23:51:51.7540000Z</dcterms:modified>
</coreProperties>
</file>