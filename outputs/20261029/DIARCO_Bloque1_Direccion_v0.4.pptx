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9ac7edf66747fc" /><Relationship Type="http://schemas.openxmlformats.org/officeDocument/2006/relationships/extended-properties" Target="/docProps/app.xml" Id="R6b1078e0b650438d" /><Relationship Type="http://schemas.openxmlformats.org/officeDocument/2006/relationships/officeDocument" Target="/ppt/presentation.xml" Id="R89f7b3909e5842ee" /></Relationships>
</file>

<file path=ppt/presentation.xml><?xml version="1.0" encoding="utf-8"?>
<p:presentation xmlns:p="http://schemas.openxmlformats.org/presentationml/2006/main">
  <p:sldMasterIdLst>
    <p:sldMasterId xmlns:r="http://schemas.openxmlformats.org/officeDocument/2006/relationships" id="2147483648" r:id="Rf087710906934595"/>
  </p:sldMasterIdLst>
  <p:notesMasterIdLst>
    <p:notesMasterId xmlns:r="http://schemas.openxmlformats.org/officeDocument/2006/relationships" r:id="Rd0fd13f569dd486d"/>
  </p:notesMasterIdLst>
  <p:sldIdLst>
    <p:sldId xmlns:r="http://schemas.openxmlformats.org/officeDocument/2006/relationships" id="256" r:id="R21b0f628b37c4dd1"/>
    <p:sldId xmlns:r="http://schemas.openxmlformats.org/officeDocument/2006/relationships" id="257" r:id="R5bfa29f9dd3940bf"/>
    <p:sldId xmlns:r="http://schemas.openxmlformats.org/officeDocument/2006/relationships" id="258" r:id="R491718336a3949d2"/>
    <p:sldId xmlns:r="http://schemas.openxmlformats.org/officeDocument/2006/relationships" id="259" r:id="R02008de551274e29"/>
    <p:sldId xmlns:r="http://schemas.openxmlformats.org/officeDocument/2006/relationships" id="260" r:id="R1125028a40e94a04"/>
    <p:sldId xmlns:r="http://schemas.openxmlformats.org/officeDocument/2006/relationships" id="261" r:id="Ra7bcedd7d02c44d2"/>
    <p:sldId xmlns:r="http://schemas.openxmlformats.org/officeDocument/2006/relationships" id="262" r:id="R14d682bcc5d14b03"/>
    <p:sldId xmlns:r="http://schemas.openxmlformats.org/officeDocument/2006/relationships" id="263" r:id="R969f6089f8fc4153"/>
    <p:sldId xmlns:r="http://schemas.openxmlformats.org/officeDocument/2006/relationships" id="264" r:id="Rb2ae57cfec694d9d"/>
    <p:sldId xmlns:r="http://schemas.openxmlformats.org/officeDocument/2006/relationships" id="265" r:id="Ra209b83ff4c04ce0"/>
    <p:sldId xmlns:r="http://schemas.openxmlformats.org/officeDocument/2006/relationships" id="266" r:id="Ra223af2e69ad4018"/>
    <p:sldId xmlns:r="http://schemas.openxmlformats.org/officeDocument/2006/relationships" id="267" r:id="Rcd65c0472cc044b3"/>
    <p:sldId xmlns:r="http://schemas.openxmlformats.org/officeDocument/2006/relationships" id="268" r:id="R66875d36fa844d57"/>
    <p:sldId xmlns:r="http://schemas.openxmlformats.org/officeDocument/2006/relationships" id="269" r:id="R8fc0667e34714e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722d42d96443cf" /><Relationship Type="http://schemas.openxmlformats.org/officeDocument/2006/relationships/slideMaster" Target="/ppt/slideMasters/slideMaster1.xml" Id="Rf087710906934595" /><Relationship Type="http://schemas.openxmlformats.org/officeDocument/2006/relationships/notesMaster" Target="/ppt/notesMasters/notesMaster1.xml" Id="Rd0fd13f569dd486d" /><Relationship Type="http://schemas.openxmlformats.org/officeDocument/2006/relationships/presProps" Target="/ppt/presProps.xml" Id="R0f9acc333f134270" /><Relationship Type="http://schemas.openxmlformats.org/officeDocument/2006/relationships/tableStyles" Target="/ppt/tableStyles.xml" Id="Ra52b58c227684ffe" /><Relationship Type="http://schemas.openxmlformats.org/officeDocument/2006/relationships/slide" Target="/ppt/slides/slide1.xml" Id="R21b0f628b37c4dd1" /><Relationship Type="http://schemas.openxmlformats.org/officeDocument/2006/relationships/slide" Target="/ppt/slides/slide2.xml" Id="R5bfa29f9dd3940bf" /><Relationship Type="http://schemas.openxmlformats.org/officeDocument/2006/relationships/slide" Target="/ppt/slides/slide3.xml" Id="R491718336a3949d2" /><Relationship Type="http://schemas.openxmlformats.org/officeDocument/2006/relationships/slide" Target="/ppt/slides/slide4.xml" Id="R02008de551274e29" /><Relationship Type="http://schemas.openxmlformats.org/officeDocument/2006/relationships/slide" Target="/ppt/slides/slide5.xml" Id="R1125028a40e94a04" /><Relationship Type="http://schemas.openxmlformats.org/officeDocument/2006/relationships/slide" Target="/ppt/slides/slide6.xml" Id="Ra7bcedd7d02c44d2" /><Relationship Type="http://schemas.openxmlformats.org/officeDocument/2006/relationships/slide" Target="/ppt/slides/slide7.xml" Id="R14d682bcc5d14b03" /><Relationship Type="http://schemas.openxmlformats.org/officeDocument/2006/relationships/slide" Target="/ppt/slides/slide8.xml" Id="R969f6089f8fc4153" /><Relationship Type="http://schemas.openxmlformats.org/officeDocument/2006/relationships/slide" Target="/ppt/slides/slide9.xml" Id="Rb2ae57cfec694d9d" /><Relationship Type="http://schemas.openxmlformats.org/officeDocument/2006/relationships/slide" Target="/ppt/slides/slide10.xml" Id="Ra209b83ff4c04ce0" /><Relationship Type="http://schemas.openxmlformats.org/officeDocument/2006/relationships/slide" Target="/ppt/slides/slide11.xml" Id="Ra223af2e69ad4018" /><Relationship Type="http://schemas.openxmlformats.org/officeDocument/2006/relationships/slide" Target="/ppt/slides/slide12.xml" Id="Rcd65c0472cc044b3" /><Relationship Type="http://schemas.openxmlformats.org/officeDocument/2006/relationships/slide" Target="/ppt/slides/slide13.xml" Id="R66875d36fa844d57" /><Relationship Type="http://schemas.openxmlformats.org/officeDocument/2006/relationships/slide" Target="/ppt/slides/slide14.xml" Id="R8fc0667e34714e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205deb813f4e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1c2fc6c6354487" /><Relationship Type="http://schemas.openxmlformats.org/officeDocument/2006/relationships/notesMaster" Target="/ppt/notesMasters/notesMaster1.xml" Id="Reb07f35f90fa48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5b635921ae4335" /><Relationship Type="http://schemas.openxmlformats.org/officeDocument/2006/relationships/notesMaster" Target="/ppt/notesMasters/notesMaster1.xml" Id="R86f259a0084046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498b7c235e4e59" /><Relationship Type="http://schemas.openxmlformats.org/officeDocument/2006/relationships/notesMaster" Target="/ppt/notesMasters/notesMaster1.xml" Id="R63a7eb68b9ff4d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47f880dc984cf8" /><Relationship Type="http://schemas.openxmlformats.org/officeDocument/2006/relationships/notesMaster" Target="/ppt/notesMasters/notesMaster1.xml" Id="Rf45779c3e0e94b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7efd7216b74ff3" /><Relationship Type="http://schemas.openxmlformats.org/officeDocument/2006/relationships/notesMaster" Target="/ppt/notesMasters/notesMaster1.xml" Id="Rc2a54f24634049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331f028c6247b0" /><Relationship Type="http://schemas.openxmlformats.org/officeDocument/2006/relationships/notesMaster" Target="/ppt/notesMasters/notesMaster1.xml" Id="R6247279508464d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13562c90c746dd" /><Relationship Type="http://schemas.openxmlformats.org/officeDocument/2006/relationships/notesMaster" Target="/ppt/notesMasters/notesMaster1.xml" Id="R568e18ca795140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53bf39d4b542d0" /><Relationship Type="http://schemas.openxmlformats.org/officeDocument/2006/relationships/notesMaster" Target="/ppt/notesMasters/notesMaster1.xml" Id="R7bba3254cb2841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8f68b37e234d1f" /><Relationship Type="http://schemas.openxmlformats.org/officeDocument/2006/relationships/notesMaster" Target="/ppt/notesMasters/notesMaster1.xml" Id="R0a86d5f8ad7f43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ee34009e2f48b4" /><Relationship Type="http://schemas.openxmlformats.org/officeDocument/2006/relationships/notesMaster" Target="/ppt/notesMasters/notesMaster1.xml" Id="Rfcf15e9f5131422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4dbb4cb72142bb" /><Relationship Type="http://schemas.openxmlformats.org/officeDocument/2006/relationships/notesMaster" Target="/ppt/notesMasters/notesMaster1.xml" Id="R516de37ad6334f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89e4c4d1a804c1c" /><Relationship Type="http://schemas.openxmlformats.org/officeDocument/2006/relationships/notesMaster" Target="/ppt/notesMasters/notesMaster1.xml" Id="Rd0c4810d50c84ad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dd7f778eaca4837" /><Relationship Type="http://schemas.openxmlformats.org/officeDocument/2006/relationships/notesMaster" Target="/ppt/notesMasters/notesMaster1.xml" Id="R254111642643441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451102ca58a43af" /><Relationship Type="http://schemas.openxmlformats.org/officeDocument/2006/relationships/notesMaster" Target="/ppt/notesMasters/notesMaster1.xml" Id="R474dc84788f64f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de la reunión: compromiso nominal y tiempo protegido para ejecutar el plan. El usuario confirmó convivencia gradual y objetivo de módulos productivos, smoke y paralelo desde 04/11. La información DIARCO/SGM sigue válida. Documento propuesto, sin aceptaciones inferidas. Fuente: instrucciones del usuario, 29/10/2026.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basta con recibir nombres. Cada jefatura confirma capacidad y qué tarea habitual se redistribuye. No hay aceptación tácita.</a:t>
            </a:r>
          </a:p>
          <a:p xmlns:a="http://schemas.openxmlformats.org/drawingml/2006/main">
            <a:r>
              <a:t/>
            </a:r>
          </a:p>
          <a:p xmlns:a="http://schemas.openxmlformats.org/drawingml/2006/main">
            <a:r>
              <a:t>Fuentes:</a:t>
            </a:r>
          </a:p>
          <a:p xmlns:a="http://schemas.openxmlformats.org/drawingml/2006/main">
            <a:r>
              <a:t>S01. Solicitud del usuario. Necesidad de compromiso DIARCO, referentes, WBS, formación, UAT y soporte. Conversación de trabajo</a:t>
            </a:r>
          </a:p>
          <a:p xmlns:a="http://schemas.openxmlformats.org/drawingml/2006/main">
            <a:r>
              <a:t>S12. Nombres y cargos informados por el usuario. Pablo Bertolissio, Roberto Goldfarb, Daniel Padin, Luciano Calcagno y Eduardo Ettlin. Facultades de proyecto propuestas, no aceptadas todavía. Conversación de trabajo</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hoja Gobierno fue editada por el usuario el 30/10. Las funciones de proyecto siguen como propuestas. Guillermo Añaños figura como CIO DIARCO provisto por Zeetrex; falta responsable IT operativo. La función ZT incluye a Alejandro Ledesma / Eduardo Ettlin: confirmar titular por circuito. El líder DIARCO, referentes, suplentes y mesa aún deben designarse.</a:t>
            </a:r>
          </a:p>
          <a:p xmlns:a="http://schemas.openxmlformats.org/drawingml/2006/main">
            <a:r>
              <a:t/>
            </a:r>
          </a:p>
          <a:p xmlns:a="http://schemas.openxmlformats.org/drawingml/2006/main">
            <a:r>
              <a:t>Fuentes:</a:t>
            </a:r>
          </a:p>
          <a:p xmlns:a="http://schemas.openxmlformats.org/drawingml/2006/main">
            <a:r>
              <a:t>S31. Gobierno del plan editado por el usuario. Siete perfiles; funciones propuestas, pendientes de aceptación. CNX_BLOQUE1/outputs/20261029/DIARCO_Bloque1_Plan_v0.2.xlsx, Gobierno!A5:E12</a:t>
            </a:r>
          </a:p>
          <a:p xmlns:a="http://schemas.openxmlformats.org/drawingml/2006/main">
            <a:r>
              <a:t>S32. Asignaciones del plan editadas por el usuario. Interlocutores ampliados por módulo; titulares, suplentes y horas aún vacíos. CNX_BLOQUE1/outputs/20261029/DIARCO_Bloque1_Plan_v0.2.xlsx, Asignaciones!A5:Q15</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Alcance macro según Estrategia elegida y IMPLEMENTACION. El cierre de GAPS fija el detalle de cada oleada. Precio de venta y kardex pertenecen a la consolidación posterior. Para abastecimiento y OC, Asignaciones incorpora a Romina Garfi, Carolina Tavernisse, Camila Klipauka, Marcelo Cingolani, Diego Baldi y Paloma Romero; acordar cobertura por categoría y formato.</a:t>
            </a:r>
          </a:p>
          <a:p xmlns:a="http://schemas.openxmlformats.org/drawingml/2006/main">
            <a:r>
              <a:t/>
            </a:r>
          </a:p>
          <a:p xmlns:a="http://schemas.openxmlformats.org/drawingml/2006/main">
            <a:r>
              <a:t>Fuentes:</a:t>
            </a:r>
          </a:p>
          <a:p xmlns:a="http://schemas.openxmlformats.org/drawingml/2006/main">
            <a:r>
              <a:t>S10. Plan de Despliegue - Estrategia. Fuente rectora elegida expresamente por el usuario. Convivencia gradual. 07/11 disponibilidad, 09/11 pruebas previstas. CNX_BLOQUE1/documentacion/Plan de Despliegue - Estrategia.md</a:t>
            </a:r>
          </a:p>
          <a:p xmlns:a="http://schemas.openxmlformats.org/drawingml/2006/main">
            <a:r>
              <a:t>S15. Plan_Connexa_20261016.pdf. Módulos, validadores e infraestructura AP/PDA. Fechas y corte total quedan subordinados a S10/S13 por instrucción del usuario. https://drive.google.com/file/d/15phYIe_bxgcxKCC2tlU0dLbj8AQxeKlH/view</a:t>
            </a:r>
          </a:p>
          <a:p xmlns:a="http://schemas.openxmlformats.org/drawingml/2006/main">
            <a:r>
              <a:t>S16. Resumen ejecutivo post reuniones 20/10. Aprobación única OC, OC madre/PDA, gobierno de maestros y compromisos VKM. No prueba que acciones posteriores se cumplieron. https://drive.google.com/file/d/12nzA5UzuvW4hFuwNvo7B9BM548QpNfdr/view</a:t>
            </a:r>
          </a:p>
          <a:p xmlns:a="http://schemas.openxmlformats.org/drawingml/2006/main">
            <a:r>
              <a:t>S22. Auditoría. Guillermo Alvez, interlocutor. Gobierno de datos y workflows requieren definición organizativa. https://drive.google.com/file/d/12NzBdTsjvkwqv7ZnndETBb2hQuCScixH/view</a:t>
            </a:r>
          </a:p>
          <a:p xmlns:a="http://schemas.openxmlformats.org/drawingml/2006/main">
            <a:r>
              <a:t>S23. Compradores. Romina Garfi, Roxana Frutos, Paloma Romero y Diego Baldi, interlocutores. OC madre y descuentos requieren pruebas. https://drive.google.com/file/d/1QRjn1y4a-0DLcG3nCLujM8VaB0FBFPzl/view</a:t>
            </a:r>
          </a:p>
          <a:p xmlns:a="http://schemas.openxmlformats.org/drawingml/2006/main">
            <a:r>
              <a:t>S25. Listas de proveedores. Sebastián Basconcelos según esta minuta. Reglas de netos, precedencia y bonificaciones a validar. https://drive.google.com/file/d/14fA4uzvnh88GG3A8Puim1tiVch5RGl3A/view</a:t>
            </a:r>
          </a:p>
          <a:p xmlns:a="http://schemas.openxmlformats.org/drawingml/2006/main">
            <a:r>
              <a:t>S32. Asignaciones del plan editadas por el usuario. Interlocutores ampliados por módulo; titulares, suplentes y horas aún vacíos. CNX_BLOQUE1/outputs/20261029/DIARCO_Bloque1_Plan_v0.2.xlsx, Asignaciones!A5:Q15</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Separar necesidades PDD de planificación de transferencias/viajes. No asignar a PDD reservas, transporte o ejecución WMS que su contrato excluye. La planificación logística tiene su propio frente e integración.</a:t>
            </a:r>
          </a:p>
          <a:p xmlns:a="http://schemas.openxmlformats.org/drawingml/2006/main">
            <a:r>
              <a:t/>
            </a:r>
          </a:p>
          <a:p xmlns:a="http://schemas.openxmlformats.org/drawingml/2006/main">
            <a:r>
              <a:t>Fuentes:</a:t>
            </a:r>
          </a:p>
          <a:p xmlns:a="http://schemas.openxmlformats.org/drawingml/2006/main">
            <a:r>
              <a:t>S10. Plan de Despliegue - Estrategia. Fuente rectora elegida expresamente por el usuario. Convivencia gradual. 07/11 disponibilidad, 09/11 pruebas previstas. CNX_BLOQUE1/documentacion/Plan de Despliegue - Estrategia.md</a:t>
            </a:r>
          </a:p>
          <a:p xmlns:a="http://schemas.openxmlformats.org/drawingml/2006/main">
            <a:r>
              <a:t>S15. Plan_Connexa_20261016.pdf. Módulos, validadores e infraestructura AP/PDA. Fechas y corte total quedan subordinados a S10/S13 por instrucción del usuario. https://drive.google.com/file/d/15phYIe_bxgcxKCC2tlU0dLbj8AQxeKlH/view</a:t>
            </a:r>
          </a:p>
          <a:p xmlns:a="http://schemas.openxmlformats.org/drawingml/2006/main">
            <a:r>
              <a:t>S16. Resumen ejecutivo post reuniones 20/10. Aprobación única OC, OC madre/PDA, gobierno de maestros y compromisos VKM. No prueba que acciones posteriores se cumplieron. https://drive.google.com/file/d/12nzA5UzuvW4hFuwNvo7B9BM548QpNfdr/view</a:t>
            </a:r>
          </a:p>
          <a:p xmlns:a="http://schemas.openxmlformats.org/drawingml/2006/main">
            <a:r>
              <a:t>S07. PDD alcance Fase 1 v1.1. Alcance específico de PDD. Fase 1 no equivale a Bloque 1 del programa. PDD/PDD - ALCANCE Fase 1.md</a:t>
            </a:r>
          </a:p>
          <a:p xmlns:a="http://schemas.openxmlformats.org/drawingml/2006/main">
            <a:r>
              <a:t>S19. Relanzar Recepción e Inventarios. Disponibilidad y confiabilidad de stock se validan por separado. Wi-Fi, PDA, tienda escuela y primeras sucursales pendientes. https://drive.google.com/file/d/13gg2896DrzNJE-QJPVw9ZjxIwO77xM82/view</a:t>
            </a:r>
          </a:p>
          <a:p xmlns:a="http://schemas.openxmlformats.org/drawingml/2006/main">
            <a:r>
              <a:t>S20. Equipo técnico SM-MO-EWE. Pruebas parciales informadas; pendientes SGM, autorizaciones, remitos, túnel, maestros y PDA/QR. No acredita cierre del 26/10. https://drive.google.com/file/d/1NJY0-0vUk1PjiCopLtRTub1ZE-hMo3Hx/view</a:t>
            </a:r>
          </a:p>
          <a:p xmlns:a="http://schemas.openxmlformats.org/drawingml/2006/main">
            <a:r>
              <a:t>S24. Logística y Valkimia. Christian Rojas/Gastón en Logística. API/Excel y redespachos no son una especificación aprobada. https://drive.google.com/file/d/1aY5pXBry83kI8Fs4pHE2cmezpGWFic3r/view</a:t>
            </a:r>
          </a:p>
          <a:p xmlns:a="http://schemas.openxmlformats.org/drawingml/2006/main">
            <a:r>
              <a:t>S27. Informe ejecutivo 23/10. Última evidencia de reuniones al 22/10. No acredita cierre posterior de recuperación, integración o aceptación B1. https://drive.google.com/file/d/1MiOVTdg-nJS0WnxPQHmkiJBW_sF3PKtP/view</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instrucción del usuario sustituye las fechas anteriores de arranque 07/11 y 09/11. No se interpreta 04/11 como aceptación total. Algunos días de paralelo por módulo, con duración/ciclos acordados.</a:t>
            </a:r>
          </a:p>
          <a:p xmlns:a="http://schemas.openxmlformats.org/drawingml/2006/main">
            <a:r>
              <a:t/>
            </a:r>
          </a:p>
          <a:p xmlns:a="http://schemas.openxmlformats.org/drawingml/2006/main">
            <a:r>
              <a:t>Fuentes:</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a:p xmlns:a="http://schemas.openxmlformats.org/drawingml/2006/main">
            <a:r>
              <a:t>S10. Plan de Despliegue - Estrategia. Fuente rectora elegida expresamente por el usuario. Convivencia gradual. 07/11 disponibilidad, 09/11 pruebas previstas. CNX_BLOQUE1/documentacion/Plan de Despliegue - Estrategia.md</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Comparar la misma OC con identificadores vinculados. El resultado esperado se aprueba con negocio e Impuestos antes de ejecutar. La coincidencia entre dos sistemas no prueba por sí sola que la regla sea correcta. Evitar diferencias compensadas entre líneas. SGM conserva validez y el emisor al proveedor es único.</a:t>
            </a:r>
          </a:p>
          <a:p xmlns:a="http://schemas.openxmlformats.org/drawingml/2006/main">
            <a:r>
              <a:t/>
            </a:r>
          </a:p>
          <a:p xmlns:a="http://schemas.openxmlformats.org/drawingml/2006/main">
            <a:r>
              <a:t>Fuentes:</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a:p xmlns:a="http://schemas.openxmlformats.org/drawingml/2006/main">
            <a:r>
              <a:t>S16. Resumen ejecutivo post reuniones 20/10. Aprobación única OC, OC madre/PDA, gobierno de maestros y compromisos VKM. No prueba que acciones posteriores se cumplieron. https://drive.google.com/file/d/12nzA5UzuvW4hFuwNvo7B9BM548QpNfdr/view</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Aplicar T02 compromiso individual y guía del módulo. Cada tarea tiene R/A, predecesoras y criterio de cierre. El dueño del proceso conserva la aceptación.</a:t>
            </a:r>
          </a:p>
          <a:p xmlns:a="http://schemas.openxmlformats.org/drawingml/2006/main">
            <a:r>
              <a:t/>
            </a:r>
          </a:p>
          <a:p xmlns:a="http://schemas.openxmlformats.org/drawingml/2006/main">
            <a:r>
              <a:t>Fuentes:</a:t>
            </a:r>
          </a:p>
          <a:p xmlns:a="http://schemas.openxmlformats.org/drawingml/2006/main">
            <a:r>
              <a:t>S01. Solicitud del usuario. Necesidad de compromiso DIARCO, referentes, WBS, formación, UAT y soporte. Conversación de trabajo</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de secuencia por módulo. El libro v0.4 contiene 116 actividades, incluidas las cuatro de enlace IT, cobertura L2, formación y adopción. Las nuevas filas están al final y se ordenan por ID/predecesoras al planificar. No presenta ejecución real.</a:t>
            </a:r>
          </a:p>
          <a:p xmlns:a="http://schemas.openxmlformats.org/drawingml/2006/main">
            <a:r>
              <a:t/>
            </a:r>
          </a:p>
          <a:p xmlns:a="http://schemas.openxmlformats.org/drawingml/2006/main">
            <a:r>
              <a:t>Fuentes:</a:t>
            </a:r>
          </a:p>
          <a:p xmlns:a="http://schemas.openxmlformats.org/drawingml/2006/main">
            <a:r>
              <a:t>S09. Diseño de este kit. Roles, actividades, tiempos, umbrales y prioridades son propuestas a validar. Zeetrex / CNX_BLOQUE1 v0.1</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a:p xmlns:a="http://schemas.openxmlformats.org/drawingml/2006/main">
            <a:r>
              <a:t>S19. Relanzar Recepción e Inventarios. Disponibilidad y confiabilidad de stock se validan por separado. Wi-Fi, PDA, tienda escuela y primeras sucursales pendientes. https://drive.google.com/file/d/13gg2896DrzNJE-QJPVw9ZjxIwO77xM82/view</a:t>
            </a:r>
          </a:p>
          <a:p xmlns:a="http://schemas.openxmlformats.org/drawingml/2006/main">
            <a:r>
              <a:t>S20. Equipo técnico SM-MO-EWE. Pruebas parciales informadas; pendientes SGM, autorizaciones, remitos, túnel, maestros y PDA/QR. No acredita cierre del 26/10. https://drive.google.com/file/d/1NJY0-0vUk1PjiCopLtRTub1ZE-hMo3Hx/view</a:t>
            </a:r>
          </a:p>
          <a:p xmlns:a="http://schemas.openxmlformats.org/drawingml/2006/main">
            <a:r>
              <a:t>S27. Informe ejecutivo 23/10. Última evidencia de reuniones al 22/10. No acredita cierre posterior de recuperación, integración o aceptación B1. https://drive.google.com/file/d/1MiOVTdg-nJS0WnxPQHmkiJBW_sF3PKtP/view</a:t>
            </a:r>
          </a:p>
          <a:p xmlns:a="http://schemas.openxmlformats.org/drawingml/2006/main">
            <a:r>
              <a:t>S31. Gobierno del plan editado por el usuario. Siete perfiles; funciones propuestas, pendientes de aceptación. CNX_BLOQUE1/outputs/20261029/DIARCO_Bloque1_Plan_v0.2.xlsx, Gobierno!A5:E12</a:t>
            </a:r>
          </a:p>
          <a:p xmlns:a="http://schemas.openxmlformats.org/drawingml/2006/main">
            <a:r>
              <a:t>S32. Asignaciones del plan editadas por el usuario. Interlocutores ampliados por módulo; titulares, suplentes y horas aún vacíos. CNX_BLOQUE1/outputs/20261029/DIARCO_Bloque1_Plan_v0.2.xlsx, Asignaciones!A5:Q15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formación comienza con referentes y suplentes, luego se replica por rol/oleada. Material: ficha del proceso, guía rápida con capturas verificadas, dataset/casos dorados, FAQ, evaluación, runbook y ticket. Materiales específicos de pantalla se completan sobre la versión real.</a:t>
            </a:r>
          </a:p>
          <a:p xmlns:a="http://schemas.openxmlformats.org/drawingml/2006/main">
            <a:r>
              <a:t/>
            </a:r>
          </a:p>
          <a:p xmlns:a="http://schemas.openxmlformats.org/drawingml/2006/main">
            <a:r>
              <a:t>Fuentes:</a:t>
            </a:r>
          </a:p>
          <a:p xmlns:a="http://schemas.openxmlformats.org/drawingml/2006/main">
            <a:r>
              <a:t>S01. Solicitud del usuario. Necesidad de compromiso DIARCO, referentes, WBS, formación, UAT y soporte. Conversación de trabajo</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mesa mantiene el ticket principal hasta la confirmación de recuperación. Falla grave: escalar de inmediato a IT y L2 dentro de la cobertura acordada. Los objetivos de atención del documento son propuestas, sin asumir 24x7.</a:t>
            </a:r>
          </a:p>
          <a:p xmlns:a="http://schemas.openxmlformats.org/drawingml/2006/main">
            <a:r>
              <a:t/>
            </a:r>
          </a:p>
          <a:p xmlns:a="http://schemas.openxmlformats.org/drawingml/2006/main">
            <a:r>
              <a:t>Fuentes:</a:t>
            </a:r>
          </a:p>
          <a:p xmlns:a="http://schemas.openxmlformats.org/drawingml/2006/main">
            <a:r>
              <a:t>S01. Solicitud del usuario. Necesidad de compromiso DIARCO, referentes, WBS, formación, UAT y soporte. Conversación de trabajo</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Umbrales metodológicos propuestos, pendientes de acuerdo: 100% casos críticos aplicables aprobados, cero defectos críticos/altos del circuito, al menos dos ciclos incluyendo una excepción, cinco días operativos estables para transferencia y ciclo completo si infrecuente. No se rebajan controles técnicos vigentes.</a:t>
            </a:r>
          </a:p>
          <a:p xmlns:a="http://schemas.openxmlformats.org/drawingml/2006/main">
            <a:r>
              <a:t/>
            </a:r>
          </a:p>
          <a:p xmlns:a="http://schemas.openxmlformats.org/drawingml/2006/main">
            <a:r>
              <a:t>Fuentes:</a:t>
            </a:r>
          </a:p>
          <a:p xmlns:a="http://schemas.openxmlformats.org/drawingml/2006/main">
            <a:r>
              <a:t>S09. Diseño de este kit. Roles, actividades, tiempos, umbrales y prioridades son propuestas a validar. Zeetrex / CNX_BLOQUE1 v0.1</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Fechas objetivo de la propuesta. No hay aceptación por calendario. Si falta preparación de un módulo, registrar bloqueo y permitir avanzar a los módulos que sí cumplen las condiciones.</a:t>
            </a:r>
          </a:p>
          <a:p xmlns:a="http://schemas.openxmlformats.org/drawingml/2006/main">
            <a:r>
              <a:t/>
            </a:r>
          </a:p>
          <a:p xmlns:a="http://schemas.openxmlformats.org/drawingml/2006/main">
            <a:r>
              <a:t>Fuentes:</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Cierre sugerido: leer nombres, horas, fecha y evidencia esperada en voz alta. Roberto Goldfarb brinda patrocinio institucional propuesto. Pablo Bertolissio asume sponsor operativo propuesto. Daniel Padin compromiso ejecutivo Zeetrex. Guillermo Añaños facilita IT DIARCO, Eduardo Ettlin lidera Zeetrex, Pablo Duplessy coordina el cambio y Alejandro Ledesma / Eduardo Ettlin cumplen función técnica propuesta. El líder operativo DIARCO sigue pendiente.</a:t>
            </a:r>
          </a:p>
          <a:p xmlns:a="http://schemas.openxmlformats.org/drawingml/2006/main">
            <a:r>
              <a:t/>
            </a:r>
          </a:p>
          <a:p xmlns:a="http://schemas.openxmlformats.org/drawingml/2006/main">
            <a:r>
              <a:t>Fuentes:</a:t>
            </a:r>
          </a:p>
          <a:p xmlns:a="http://schemas.openxmlformats.org/drawingml/2006/main">
            <a:r>
              <a:t>S01. Solicitud del usuario. Necesidad de compromiso DIARCO, referentes, WBS, formación, UAT y soporte. Conversación de trabajo</a:t>
            </a:r>
          </a:p>
          <a:p xmlns:a="http://schemas.openxmlformats.org/drawingml/2006/main">
            <a:r>
              <a:t>S31. Gobierno del plan editado por el usuario. Siete perfiles; funciones propuestas, pendientes de aceptación. CNX_BLOQUE1/outputs/20261029/DIARCO_Bloque1_Plan_v0.2.xlsx, Gobierno!A5:E12</a:t>
            </a:r>
          </a:p>
          <a:p xmlns:a="http://schemas.openxmlformats.org/drawingml/2006/main">
            <a:r>
              <a:t>S32. Asignaciones del plan editadas por el usuario. Interlocutores ampliados por módulo; titulares, suplentes y horas aún vacíos. CNX_BLOQUE1/outputs/20261029/DIARCO_Bloque1_Plan_v0.2.xlsx, Asignaciones!A5:Q15</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dd03ed05a047f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f8d556512349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b43b6dcad194e6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7a47d487f25465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82ada46c7d468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fc4e8fe4f5b48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AE1613-E318-430A-90F2-805D29B668A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83B4813-49E4-4163-90D4-B46C80E0045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0A46453-8738-48AB-88B2-144F29E8F21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0DDCC0-7A8E-45B3-89F3-4F5CFF7A09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57B2211-C92A-4D4E-84C9-D733E929D80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E1704E5-853C-4ADC-882D-7112707EAC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EE619F-D10B-47F4-B411-2A3421B3AD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A9767B-4F45-450E-A779-BD97AA3B75A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29E34D-3592-4D56-AA73-B942FA99BC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D99DB9-ADF5-4516-BCEE-7A4D4ECF67B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0214a51b154421" /><Relationship Type="http://schemas.openxmlformats.org/officeDocument/2006/relationships/slideLayout" Target="/ppt/slideLayouts/slideLayout1.xml" Id="Rdcda1d6ff378456e" /><Relationship Type="http://schemas.openxmlformats.org/officeDocument/2006/relationships/slideLayout" Target="/ppt/slideLayouts/slideLayout2.xml" Id="R3c25716c3e834520" /><Relationship Type="http://schemas.openxmlformats.org/officeDocument/2006/relationships/slideLayout" Target="/ppt/slideLayouts/slideLayout3.xml" Id="R76d532aee61649d3" /><Relationship Type="http://schemas.openxmlformats.org/officeDocument/2006/relationships/slideLayout" Target="/ppt/slideLayouts/slideLayout4.xml" Id="R0186fb0b4da04447" /><Relationship Type="http://schemas.openxmlformats.org/officeDocument/2006/relationships/slideLayout" Target="/ppt/slideLayouts/slideLayout5.xml" Id="Re509706449e247e2" /><Relationship Type="http://schemas.openxmlformats.org/officeDocument/2006/relationships/slideLayout" Target="/ppt/slideLayouts/slideLayout6.xml" Id="Rb7ec93bb3cc54b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da1d6ff378456e"/>
    <p:sldLayoutId xmlns:r="http://schemas.openxmlformats.org/officeDocument/2006/relationships" id="2147483650" r:id="R3c25716c3e834520"/>
    <p:sldLayoutId xmlns:r="http://schemas.openxmlformats.org/officeDocument/2006/relationships" id="2147483651" r:id="R76d532aee61649d3"/>
    <p:sldLayoutId xmlns:r="http://schemas.openxmlformats.org/officeDocument/2006/relationships" id="2147483652" r:id="R0186fb0b4da04447"/>
    <p:sldLayoutId xmlns:r="http://schemas.openxmlformats.org/officeDocument/2006/relationships" id="2147483653" r:id="Re509706449e247e2"/>
    <p:sldLayoutId xmlns:r="http://schemas.openxmlformats.org/officeDocument/2006/relationships" id="2147483654" r:id="Rb7ec93bb3cc54b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f4a375a93b34208" /><Relationship Type="http://schemas.openxmlformats.org/officeDocument/2006/relationships/notesSlide" Target="/ppt/notesSlides/notesSlide1.xml" Id="R6c95a8734b5948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428207f19048d7" /><Relationship Type="http://schemas.openxmlformats.org/officeDocument/2006/relationships/notesSlide" Target="/ppt/notesSlides/notesSlide2.xml" Id="R8cdb5001057b4a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fdc47cf889f4e5c" /><Relationship Type="http://schemas.openxmlformats.org/officeDocument/2006/relationships/notesSlide" Target="/ppt/notesSlides/notesSlide3.xml" Id="Rd92ec8c6d5c948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d38048bc60c450d" /><Relationship Type="http://schemas.openxmlformats.org/officeDocument/2006/relationships/notesSlide" Target="/ppt/notesSlides/notesSlide4.xml" Id="R8e7c8fd317744b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e8af641ba994ea8" /><Relationship Type="http://schemas.openxmlformats.org/officeDocument/2006/relationships/notesSlide" Target="/ppt/notesSlides/notesSlide5.xml" Id="R1f797240aad046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72903ca9e784fbf" /><Relationship Type="http://schemas.openxmlformats.org/officeDocument/2006/relationships/notesSlide" Target="/ppt/notesSlides/notesSlide6.xml" Id="R08ec9d69d6ae48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901d18529ef45c8" /><Relationship Type="http://schemas.openxmlformats.org/officeDocument/2006/relationships/notesSlide" Target="/ppt/notesSlides/notesSlide7.xml" Id="Rdbdd02b98a0f47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32181fb31264a40" /><Relationship Type="http://schemas.openxmlformats.org/officeDocument/2006/relationships/notesSlide" Target="/ppt/notesSlides/notesSlide8.xml" Id="R9a49f995f1944a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1e8fb288d7b44b3" /><Relationship Type="http://schemas.openxmlformats.org/officeDocument/2006/relationships/notesSlide" Target="/ppt/notesSlides/notesSlide9.xml" Id="R7f57f079d3cd485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09a2038024343e1" /><Relationship Type="http://schemas.openxmlformats.org/officeDocument/2006/relationships/notesSlide" Target="/ppt/notesSlides/notesSlide10.xml" Id="Raa1e0ced7def45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4a79c623e334d37" /><Relationship Type="http://schemas.openxmlformats.org/officeDocument/2006/relationships/notesSlide" Target="/ppt/notesSlides/notesSlide11.xml" Id="Re1c868d6e1284e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436222afc0041eb" /><Relationship Type="http://schemas.openxmlformats.org/officeDocument/2006/relationships/notesSlide" Target="/ppt/notesSlides/notesSlide12.xml" Id="R6a5796bade1248e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fa07a09e8614678" /><Relationship Type="http://schemas.openxmlformats.org/officeDocument/2006/relationships/notesSlide" Target="/ppt/notesSlides/notesSlide13.xml" Id="Rba9643f2169543a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f957f0cf2b444a7" /><Relationship Type="http://schemas.openxmlformats.org/officeDocument/2006/relationships/notesSlide" Target="/ppt/notesSlides/notesSlide14.xml" Id="Rc6e8258f360f4ba8" /></Relationships>
</file>

<file path=ppt/slides/slide1.xml><?xml version="1.0" encoding="utf-8"?>
<p:sld xmlns:p="http://schemas.openxmlformats.org/presentationml/2006/main">
  <p:cSld>
    <p:bg>
      <p:bgPr>
        <a:solidFill xmlns:a="http://schemas.openxmlformats.org/drawingml/2006/main">
          <a:srgbClr val="19334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AFB624-A132-49FD-B6B1-F1285343F357}"/>
              </a:ext>
            </a:extLst>
          </p:cNvPr>
          <p:cNvSpPr>
            <a:spLocks xmlns:a="http://schemas.openxmlformats.org/drawingml/2006/main" noGrp="1"/>
          </p:cNvSpPr>
          <p:nvPr/>
        </p:nvSpPr>
        <p:spPr>
          <a:xfrm xmlns:a="http://schemas.openxmlformats.org/drawingml/2006/main">
            <a:off x="609600" y="61912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B9DBED"/>
                </a:solidFill>
                <a:latin typeface="Arial"/>
                <a:ea typeface="Arial"/>
                <a:cs typeface="Arial"/>
              </a:defRPr>
            </a:defPPr>
            <a:lvl1pPr>
              <a:defRPr sz="2100" b="1">
                <a:solidFill>
                  <a:srgbClr val="B9DBED"/>
                </a:solidFill>
                <a:latin typeface="Arial"/>
                <a:ea typeface="Arial"/>
                <a:cs typeface="Arial"/>
              </a:defRPr>
            </a:lvl1pPr>
            <a:lvl2pPr>
              <a:defRPr sz="2100" b="1">
                <a:solidFill>
                  <a:srgbClr val="B9DBED"/>
                </a:solidFill>
                <a:latin typeface="Arial"/>
                <a:ea typeface="Arial"/>
                <a:cs typeface="Arial"/>
              </a:defRPr>
            </a:lvl2pPr>
            <a:lvl3pPr>
              <a:defRPr sz="2100" b="1">
                <a:solidFill>
                  <a:srgbClr val="B9DBED"/>
                </a:solidFill>
                <a:latin typeface="Arial"/>
                <a:ea typeface="Arial"/>
                <a:cs typeface="Arial"/>
              </a:defRPr>
            </a:lvl3pPr>
            <a:lvl4pPr>
              <a:defRPr sz="2100" b="1">
                <a:solidFill>
                  <a:srgbClr val="B9DBED"/>
                </a:solidFill>
                <a:latin typeface="Arial"/>
                <a:ea typeface="Arial"/>
                <a:cs typeface="Arial"/>
              </a:defRPr>
            </a:lvl4pPr>
            <a:lvl5pPr>
              <a:defRPr sz="2100" b="1">
                <a:solidFill>
                  <a:srgbClr val="B9DBED"/>
                </a:solidFill>
                <a:latin typeface="Arial"/>
                <a:ea typeface="Arial"/>
                <a:cs typeface="Arial"/>
              </a:defRPr>
            </a:lvl5pPr>
            <a:lvl6pPr>
              <a:defRPr sz="2100" b="1">
                <a:solidFill>
                  <a:srgbClr val="B9DBED"/>
                </a:solidFill>
                <a:latin typeface="Arial"/>
                <a:ea typeface="Arial"/>
                <a:cs typeface="Arial"/>
              </a:defRPr>
            </a:lvl6pPr>
            <a:lvl7pPr>
              <a:defRPr sz="2100" b="1">
                <a:solidFill>
                  <a:srgbClr val="B9DBED"/>
                </a:solidFill>
                <a:latin typeface="Arial"/>
                <a:ea typeface="Arial"/>
                <a:cs typeface="Arial"/>
              </a:defRPr>
            </a:lvl7pPr>
            <a:lvl8pPr>
              <a:defRPr sz="2100" b="1">
                <a:solidFill>
                  <a:srgbClr val="B9DBED"/>
                </a:solidFill>
                <a:latin typeface="Arial"/>
                <a:ea typeface="Arial"/>
                <a:cs typeface="Arial"/>
              </a:defRPr>
            </a:lvl8pPr>
            <a:lvl9pPr>
              <a:defRPr sz="2100" b="1">
                <a:solidFill>
                  <a:srgbClr val="B9DBED"/>
                </a:solidFill>
                <a:latin typeface="Arial"/>
                <a:ea typeface="Arial"/>
                <a:cs typeface="Arial"/>
              </a:defRPr>
            </a:lvl9pPr>
          </a:lstStyle>
          <a:p xmlns:a="http://schemas.openxmlformats.org/drawingml/2006/main">
            <a:pPr>
              <a:defRPr sz="2100" b="1">
                <a:solidFill>
                  <a:srgbClr val="B9DBED"/>
                </a:solidFill>
                <a:latin typeface="Arial"/>
                <a:ea typeface="Arial"/>
                <a:cs typeface="Arial"/>
              </a:defRPr>
            </a:pPr>
            <a:r>
              <a:rPr sz="2100" b="1">
                <a:solidFill>
                  <a:srgbClr val="B9DBED"/>
                </a:solidFill>
                <a:latin typeface="Arial"/>
                <a:ea typeface="Arial"/>
                <a:cs typeface="Arial"/>
              </a:rPr>
              <a:t>DIARCO</a:t>
            </a:r>
          </a:p>
        </p:txBody>
      </p:sp>
      <p:sp>
        <p:nvSpPr>
          <p:cNvPr id="2" name="">
            <a:extLst xmlns:a="http://schemas.openxmlformats.org/drawingml/2006/main">
              <a:ext uri="{FF2B5EF4-FFF2-40B4-BE49-F238E27FC236}">
                <a16:creationId xmlns:a16="http://schemas.microsoft.com/office/drawing/2014/main" id="{7170E92D-EF2A-4DDB-A487-BA83470828F3}"/>
              </a:ext>
            </a:extLst>
          </p:cNvPr>
          <p:cNvSpPr>
            <a:spLocks xmlns:a="http://schemas.openxmlformats.org/drawingml/2006/main" noGrp="1"/>
          </p:cNvSpPr>
          <p:nvPr/>
        </p:nvSpPr>
        <p:spPr>
          <a:xfrm xmlns:a="http://schemas.openxmlformats.org/drawingml/2006/main">
            <a:off x="609600" y="1638300"/>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Implementación</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del Bloque 1</a:t>
            </a:r>
          </a:p>
        </p:txBody>
      </p:sp>
      <p:sp>
        <p:nvSpPr>
          <p:cNvPr id="3" name="">
            <a:extLst xmlns:a="http://schemas.openxmlformats.org/drawingml/2006/main">
              <a:ext uri="{FF2B5EF4-FFF2-40B4-BE49-F238E27FC236}">
                <a16:creationId xmlns:a16="http://schemas.microsoft.com/office/drawing/2014/main" id="{18822200-01CF-486A-B0EA-A9D837F300EC}"/>
              </a:ext>
            </a:extLst>
          </p:cNvPr>
          <p:cNvSpPr>
            <a:spLocks xmlns:a="http://schemas.openxmlformats.org/drawingml/2006/main" noGrp="1"/>
          </p:cNvSpPr>
          <p:nvPr/>
        </p:nvSpPr>
        <p:spPr>
          <a:xfrm xmlns:a="http://schemas.openxmlformats.org/drawingml/2006/main">
            <a:off x="647700" y="3714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Equipo, paralelo y aceptación por módulo</a:t>
            </a:r>
          </a:p>
        </p:txBody>
      </p:sp>
      <p:sp>
        <p:nvSpPr>
          <p:cNvPr id="4" name="">
            <a:extLst xmlns:a="http://schemas.openxmlformats.org/drawingml/2006/main">
              <a:ext uri="{FF2B5EF4-FFF2-40B4-BE49-F238E27FC236}">
                <a16:creationId xmlns:a16="http://schemas.microsoft.com/office/drawing/2014/main" id="{5C2C5135-1638-4844-BE96-9F411C273906}"/>
              </a:ext>
            </a:extLst>
          </p:cNvPr>
          <p:cNvSpPr>
            <a:spLocks xmlns:a="http://schemas.openxmlformats.org/drawingml/2006/main" noGrp="1"/>
          </p:cNvSpPr>
          <p:nvPr/>
        </p:nvSpPr>
        <p:spPr>
          <a:xfrm xmlns:a="http://schemas.openxmlformats.org/drawingml/2006/main">
            <a:off x="647700" y="5105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C7D8E5"/>
                </a:solidFill>
                <a:latin typeface="Arial"/>
                <a:ea typeface="Arial"/>
                <a:cs typeface="Arial"/>
              </a:defRPr>
            </a:defPPr>
            <a:lvl1pPr>
              <a:defRPr sz="1725" b="0">
                <a:solidFill>
                  <a:srgbClr val="C7D8E5"/>
                </a:solidFill>
                <a:latin typeface="Arial"/>
                <a:ea typeface="Arial"/>
                <a:cs typeface="Arial"/>
              </a:defRPr>
            </a:lvl1pPr>
            <a:lvl2pPr>
              <a:defRPr sz="1725" b="0">
                <a:solidFill>
                  <a:srgbClr val="C7D8E5"/>
                </a:solidFill>
                <a:latin typeface="Arial"/>
                <a:ea typeface="Arial"/>
                <a:cs typeface="Arial"/>
              </a:defRPr>
            </a:lvl2pPr>
            <a:lvl3pPr>
              <a:defRPr sz="1725" b="0">
                <a:solidFill>
                  <a:srgbClr val="C7D8E5"/>
                </a:solidFill>
                <a:latin typeface="Arial"/>
                <a:ea typeface="Arial"/>
                <a:cs typeface="Arial"/>
              </a:defRPr>
            </a:lvl3pPr>
            <a:lvl4pPr>
              <a:defRPr sz="1725" b="0">
                <a:solidFill>
                  <a:srgbClr val="C7D8E5"/>
                </a:solidFill>
                <a:latin typeface="Arial"/>
                <a:ea typeface="Arial"/>
                <a:cs typeface="Arial"/>
              </a:defRPr>
            </a:lvl4pPr>
            <a:lvl5pPr>
              <a:defRPr sz="1725" b="0">
                <a:solidFill>
                  <a:srgbClr val="C7D8E5"/>
                </a:solidFill>
                <a:latin typeface="Arial"/>
                <a:ea typeface="Arial"/>
                <a:cs typeface="Arial"/>
              </a:defRPr>
            </a:lvl5pPr>
            <a:lvl6pPr>
              <a:defRPr sz="1725" b="0">
                <a:solidFill>
                  <a:srgbClr val="C7D8E5"/>
                </a:solidFill>
                <a:latin typeface="Arial"/>
                <a:ea typeface="Arial"/>
                <a:cs typeface="Arial"/>
              </a:defRPr>
            </a:lvl6pPr>
            <a:lvl7pPr>
              <a:defRPr sz="1725" b="0">
                <a:solidFill>
                  <a:srgbClr val="C7D8E5"/>
                </a:solidFill>
                <a:latin typeface="Arial"/>
                <a:ea typeface="Arial"/>
                <a:cs typeface="Arial"/>
              </a:defRPr>
            </a:lvl7pPr>
            <a:lvl8pPr>
              <a:defRPr sz="1725" b="0">
                <a:solidFill>
                  <a:srgbClr val="C7D8E5"/>
                </a:solidFill>
                <a:latin typeface="Arial"/>
                <a:ea typeface="Arial"/>
                <a:cs typeface="Arial"/>
              </a:defRPr>
            </a:lvl8pPr>
            <a:lvl9pPr>
              <a:defRPr sz="1725" b="0">
                <a:solidFill>
                  <a:srgbClr val="C7D8E5"/>
                </a:solidFill>
                <a:latin typeface="Arial"/>
                <a:ea typeface="Arial"/>
                <a:cs typeface="Arial"/>
              </a:defRPr>
            </a:lvl9pPr>
          </a:lstStyle>
          <a:p xmlns:a="http://schemas.openxmlformats.org/drawingml/2006/main">
            <a:pPr>
              <a:defRPr sz="1725" b="0">
                <a:solidFill>
                  <a:srgbClr val="C7D8E5"/>
                </a:solidFill>
                <a:latin typeface="Arial"/>
                <a:ea typeface="Arial"/>
                <a:cs typeface="Arial"/>
              </a:defRPr>
            </a:pPr>
            <a:r>
              <a:rPr sz="1725" b="0">
                <a:solidFill>
                  <a:srgbClr val="C7D8E5"/>
                </a:solidFill>
                <a:latin typeface="Arial"/>
                <a:ea typeface="Arial"/>
                <a:cs typeface="Arial"/>
              </a:rPr>
              <a:t>Dirección DIARCO y Zeetrex</a:t>
            </a:r>
          </a:p>
          <a:p xmlns:a="http://schemas.openxmlformats.org/drawingml/2006/main">
            <a:pPr>
              <a:defRPr sz="1725" b="0">
                <a:solidFill>
                  <a:srgbClr val="C7D8E5"/>
                </a:solidFill>
                <a:latin typeface="Arial"/>
                <a:ea typeface="Arial"/>
                <a:cs typeface="Arial"/>
              </a:defRPr>
            </a:pPr>
            <a:r>
              <a:rPr sz="1725" b="0">
                <a:solidFill>
                  <a:srgbClr val="C7D8E5"/>
                </a:solidFill>
                <a:latin typeface="Arial"/>
                <a:ea typeface="Arial"/>
                <a:cs typeface="Arial"/>
              </a:rPr>
              <a:t>Lunes 02/11/2026 · Propuesta para acordar</a:t>
            </a:r>
          </a:p>
        </p:txBody>
      </p:sp>
    </p:spTree>
    <p:extLst>
      <p:ext uri="{BB962C8B-B14F-4D97-AF65-F5344CB8AC3E}">
        <p14:creationId xmlns:p14="http://schemas.microsoft.com/office/powerpoint/2010/main" val="1554157751"/>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F7B15BB-8235-4389-82B1-318597E58BEE}"/>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El lunes debe quedar un equipo comprometido</a:t>
            </a:r>
          </a:p>
        </p:txBody>
      </p:sp>
      <p:sp>
        <p:nvSpPr>
          <p:cNvPr id="2" name="">
            <a:extLst xmlns:a="http://schemas.openxmlformats.org/drawingml/2006/main">
              <a:ext uri="{FF2B5EF4-FFF2-40B4-BE49-F238E27FC236}">
                <a16:creationId xmlns:a16="http://schemas.microsoft.com/office/drawing/2014/main" id="{004E3043-FB3A-478E-94B0-5E2B72BF709F}"/>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D23EAFB-D8B7-4E58-97D0-6006B77DFB5F}"/>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E80BCA8-14EE-4D40-8F6A-72F1AA000688}"/>
              </a:ext>
            </a:extLst>
          </p:cNvPr>
          <p:cNvSpPr>
            <a:spLocks xmlns:a="http://schemas.openxmlformats.org/drawingml/2006/main" noGrp="1"/>
          </p:cNvSpPr>
          <p:nvPr/>
        </p:nvSpPr>
        <p:spPr>
          <a:xfrm xmlns:a="http://schemas.openxmlformats.org/drawingml/2006/main">
            <a:off x="609600" y="17526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Sponsor y líder operativo DIARCO con facultades claras.</a:t>
            </a:r>
          </a:p>
        </p:txBody>
      </p:sp>
      <p:sp>
        <p:nvSpPr>
          <p:cNvPr id="5" name="">
            <a:extLst xmlns:a="http://schemas.openxmlformats.org/drawingml/2006/main">
              <a:ext uri="{FF2B5EF4-FFF2-40B4-BE49-F238E27FC236}">
                <a16:creationId xmlns:a16="http://schemas.microsoft.com/office/drawing/2014/main" id="{A17059B9-1088-4C57-9770-86BE5696BA3C}"/>
              </a:ext>
            </a:extLst>
          </p:cNvPr>
          <p:cNvSpPr>
            <a:spLocks xmlns:a="http://schemas.openxmlformats.org/drawingml/2006/main" noGrp="1"/>
          </p:cNvSpPr>
          <p:nvPr/>
        </p:nvSpPr>
        <p:spPr>
          <a:xfrm xmlns:a="http://schemas.openxmlformats.org/drawingml/2006/main">
            <a:off x="609600" y="2543175"/>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Dueño, referente titular y suplente por módulo.</a:t>
            </a:r>
          </a:p>
        </p:txBody>
      </p:sp>
      <p:sp>
        <p:nvSpPr>
          <p:cNvPr id="6" name="">
            <a:extLst xmlns:a="http://schemas.openxmlformats.org/drawingml/2006/main">
              <a:ext uri="{FF2B5EF4-FFF2-40B4-BE49-F238E27FC236}">
                <a16:creationId xmlns:a16="http://schemas.microsoft.com/office/drawing/2014/main" id="{157F796F-261F-4D8C-A14A-5AEBF788F699}"/>
              </a:ext>
            </a:extLst>
          </p:cNvPr>
          <p:cNvSpPr>
            <a:spLocks xmlns:a="http://schemas.openxmlformats.org/drawingml/2006/main" noGrp="1"/>
          </p:cNvSpPr>
          <p:nvPr/>
        </p:nvSpPr>
        <p:spPr>
          <a:xfrm xmlns:a="http://schemas.openxmlformats.org/drawingml/2006/main">
            <a:off x="609600" y="33337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Horas protegidas y ventanas de prueba autorizadas.</a:t>
            </a:r>
          </a:p>
        </p:txBody>
      </p:sp>
      <p:sp>
        <p:nvSpPr>
          <p:cNvPr id="7" name="">
            <a:extLst xmlns:a="http://schemas.openxmlformats.org/drawingml/2006/main">
              <a:ext uri="{FF2B5EF4-FFF2-40B4-BE49-F238E27FC236}">
                <a16:creationId xmlns:a16="http://schemas.microsoft.com/office/drawing/2014/main" id="{ED66BB11-45FE-4260-AA19-6697EA150A7D}"/>
              </a:ext>
            </a:extLst>
          </p:cNvPr>
          <p:cNvSpPr>
            <a:spLocks xmlns:a="http://schemas.openxmlformats.org/drawingml/2006/main" noGrp="1"/>
          </p:cNvSpPr>
          <p:nvPr/>
        </p:nvSpPr>
        <p:spPr>
          <a:xfrm xmlns:a="http://schemas.openxmlformats.org/drawingml/2006/main">
            <a:off x="609600" y="4124325"/>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IT y mesa de ayuda incorporados desde la preparación.</a:t>
            </a:r>
          </a:p>
        </p:txBody>
      </p:sp>
      <p:sp>
        <p:nvSpPr>
          <p:cNvPr id="8" name="">
            <a:extLst xmlns:a="http://schemas.openxmlformats.org/drawingml/2006/main">
              <a:ext uri="{FF2B5EF4-FFF2-40B4-BE49-F238E27FC236}">
                <a16:creationId xmlns:a16="http://schemas.microsoft.com/office/drawing/2014/main" id="{C8EEEA7B-8678-4D98-8880-B1540212A7B1}"/>
              </a:ext>
            </a:extLst>
          </p:cNvPr>
          <p:cNvSpPr>
            <a:spLocks xmlns:a="http://schemas.openxmlformats.org/drawingml/2006/main" noGrp="1"/>
          </p:cNvSpPr>
          <p:nvPr/>
        </p:nvSpPr>
        <p:spPr>
          <a:xfrm xmlns:a="http://schemas.openxmlformats.org/drawingml/2006/main">
            <a:off x="609600" y="49149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Población del paralelo y reglas de aceptación acordadas.</a:t>
            </a:r>
          </a:p>
        </p:txBody>
      </p:sp>
    </p:spTree>
    <p:extLst>
      <p:ext uri="{BB962C8B-B14F-4D97-AF65-F5344CB8AC3E}">
        <p14:creationId xmlns:p14="http://schemas.microsoft.com/office/powerpoint/2010/main" val="231824710"/>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8CD3E5-210C-440C-A6FA-D4892FCA12F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Gobierno propuesto con los nombres disponibles</a:t>
            </a:r>
          </a:p>
        </p:txBody>
      </p:sp>
      <p:sp>
        <p:nvSpPr>
          <p:cNvPr id="2" name="">
            <a:extLst xmlns:a="http://schemas.openxmlformats.org/drawingml/2006/main">
              <a:ext uri="{FF2B5EF4-FFF2-40B4-BE49-F238E27FC236}">
                <a16:creationId xmlns:a16="http://schemas.microsoft.com/office/drawing/2014/main" id="{7893125A-3023-4917-A6AF-1DA892E334C5}"/>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472FF90-14BD-4FB6-BF1B-393551E4C8B3}"/>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36478730-03F7-453F-AA6E-D6CE0A84E7F3}"/>
              </a:ext>
            </a:extLst>
          </p:cNvPr>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a:tblGrid>
                <a:gridCol w="3238500"/>
                <a:gridCol w="2476500"/>
                <a:gridCol w="5257800"/>
              </a:tblGrid>
              <a:tr h="511969">
                <a:tc>
                  <a:txBody>
                    <a:bodyPr wrap="square" lIns="114300" tIns="76200" rIns="114300" bIns="76200">
                      <a:noAutofit/>
                    </a:bodyPr>
                    <a:lstStyle/>
                    <a:p>
                      <a:r>
                        <a:rPr sz="1425" b="1">
                          <a:solidFill>
                            <a:srgbClr val="FFFFFF"/>
                          </a:solidFill>
                          <a:latin typeface="Arial"/>
                          <a:ea typeface="Arial"/>
                          <a:cs typeface="Arial"/>
                        </a:rPr>
                        <a:t>Persona</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425" b="1">
                          <a:solidFill>
                            <a:srgbClr val="FFFFFF"/>
                          </a:solidFill>
                          <a:latin typeface="Arial"/>
                          <a:ea typeface="Arial"/>
                          <a:cs typeface="Arial"/>
                        </a:rPr>
                        <a:t>Cargo informado</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425" b="1">
                          <a:solidFill>
                            <a:srgbClr val="FFFFFF"/>
                          </a:solidFill>
                          <a:latin typeface="Arial"/>
                          <a:ea typeface="Arial"/>
                          <a:cs typeface="Arial"/>
                        </a:rPr>
                        <a:t>Función propuesta</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r>
              <a:tr h="511969">
                <a:tc>
                  <a:txBody>
                    <a:bodyPr wrap="square" lIns="114300" tIns="76200" rIns="114300" bIns="76200">
                      <a:noAutofit/>
                    </a:bodyPr>
                    <a:lstStyle/>
                    <a:p>
                      <a:r>
                        <a:rPr sz="1425" b="0">
                          <a:solidFill>
                            <a:srgbClr val="253748"/>
                          </a:solidFill>
                          <a:latin typeface="Arial"/>
                          <a:ea typeface="Arial"/>
                          <a:cs typeface="Arial"/>
                        </a:rPr>
                        <a:t>Pablo Bertolissio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425" b="0">
                          <a:solidFill>
                            <a:srgbClr val="253748"/>
                          </a:solidFill>
                          <a:latin typeface="Arial"/>
                          <a:ea typeface="Arial"/>
                          <a:cs typeface="Arial"/>
                        </a:rPr>
                        <a:t>Gerente General DIARCO</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425" b="0">
                          <a:solidFill>
                            <a:srgbClr val="253748"/>
                          </a:solidFill>
                          <a:latin typeface="Arial"/>
                          <a:ea typeface="Arial"/>
                          <a:cs typeface="Arial"/>
                        </a:rPr>
                        <a:t>Sponsor operativo DIARCO (SP)</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511969">
                <a:tc>
                  <a:txBody>
                    <a:bodyPr wrap="square" lIns="114300" tIns="76200" rIns="114300" bIns="76200">
                      <a:noAutofit/>
                    </a:bodyPr>
                    <a:lstStyle/>
                    <a:p>
                      <a:r>
                        <a:rPr sz="1425" b="0">
                          <a:solidFill>
                            <a:srgbClr val="253748"/>
                          </a:solidFill>
                          <a:latin typeface="Arial"/>
                          <a:ea typeface="Arial"/>
                          <a:cs typeface="Arial"/>
                        </a:rPr>
                        <a:t>Roberto Goldfarb</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425" b="0">
                          <a:solidFill>
                            <a:srgbClr val="253748"/>
                          </a:solidFill>
                          <a:latin typeface="Arial"/>
                          <a:ea typeface="Arial"/>
                          <a:cs typeface="Arial"/>
                        </a:rPr>
                        <a:t>Owner DIARCO</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425" b="0">
                          <a:solidFill>
                            <a:srgbClr val="253748"/>
                          </a:solidFill>
                          <a:latin typeface="Arial"/>
                          <a:ea typeface="Arial"/>
                          <a:cs typeface="Arial"/>
                        </a:rPr>
                        <a:t>Patrocinio institucional y escalación estratégica</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511969">
                <a:tc>
                  <a:txBody>
                    <a:bodyPr wrap="square" lIns="114300" tIns="76200" rIns="114300" bIns="76200">
                      <a:noAutofit/>
                    </a:bodyPr>
                    <a:lstStyle/>
                    <a:p>
                      <a:r>
                        <a:rPr sz="1425" b="0">
                          <a:solidFill>
                            <a:srgbClr val="253748"/>
                          </a:solidFill>
                          <a:latin typeface="Arial"/>
                          <a:ea typeface="Arial"/>
                          <a:cs typeface="Arial"/>
                        </a:rPr>
                        <a:t>Daniel Padin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425" b="0">
                          <a:solidFill>
                            <a:srgbClr val="253748"/>
                          </a:solidFill>
                          <a:latin typeface="Arial"/>
                          <a:ea typeface="Arial"/>
                          <a:cs typeface="Arial"/>
                        </a:rPr>
                        <a:t>CEO Zeetrex</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425" b="0">
                          <a:solidFill>
                            <a:srgbClr val="253748"/>
                          </a:solidFill>
                          <a:latin typeface="Arial"/>
                          <a:ea typeface="Arial"/>
                          <a:cs typeface="Arial"/>
                        </a:rPr>
                        <a:t>Sponsor ejecutivo Zeetrex</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511969">
                <a:tc>
                  <a:txBody>
                    <a:bodyPr wrap="square" lIns="114300" tIns="76200" rIns="114300" bIns="76200">
                      <a:noAutofit/>
                    </a:bodyPr>
                    <a:lstStyle/>
                    <a:p>
                      <a:r>
                        <a:rPr sz="1425" b="0">
                          <a:solidFill>
                            <a:srgbClr val="253748"/>
                          </a:solidFill>
                          <a:latin typeface="Arial"/>
                          <a:ea typeface="Arial"/>
                          <a:cs typeface="Arial"/>
                        </a:rPr>
                        <a:t>Guillermo Añaños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425" b="0">
                          <a:solidFill>
                            <a:srgbClr val="253748"/>
                          </a:solidFill>
                          <a:latin typeface="Arial"/>
                          <a:ea typeface="Arial"/>
                          <a:cs typeface="Arial"/>
                        </a:rPr>
                        <a:t>CIO DIARCO</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425" b="0">
                          <a:solidFill>
                            <a:srgbClr val="253748"/>
                          </a:solidFill>
                          <a:latin typeface="Arial"/>
                          <a:ea typeface="Arial"/>
                          <a:cs typeface="Arial"/>
                        </a:rPr>
                        <a:t>Enlace de Dirección para IT DIARCO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511969">
                <a:tc>
                  <a:txBody>
                    <a:bodyPr wrap="square" lIns="114300" tIns="76200" rIns="114300" bIns="76200">
                      <a:noAutofit/>
                    </a:bodyPr>
                    <a:lstStyle/>
                    <a:p>
                      <a:r>
                        <a:rPr sz="1425" b="0">
                          <a:solidFill>
                            <a:srgbClr val="253748"/>
                          </a:solidFill>
                          <a:latin typeface="Arial"/>
                          <a:ea typeface="Arial"/>
                          <a:cs typeface="Arial"/>
                        </a:rPr>
                        <a:t>Eduardo Ettlin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425" b="0">
                          <a:solidFill>
                            <a:srgbClr val="253748"/>
                          </a:solidFill>
                          <a:latin typeface="Arial"/>
                          <a:ea typeface="Arial"/>
                          <a:cs typeface="Arial"/>
                        </a:rPr>
                        <a:t>CTSO Zeetrex</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425" b="0">
                          <a:solidFill>
                            <a:srgbClr val="253748"/>
                          </a:solidFill>
                          <a:latin typeface="Arial"/>
                          <a:ea typeface="Arial"/>
                          <a:cs typeface="Arial"/>
                        </a:rPr>
                        <a:t>Líder implementación Zeetrex (LZ)</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511969">
                <a:tc>
                  <a:txBody>
                    <a:bodyPr wrap="square" lIns="114300" tIns="76200" rIns="114300" bIns="76200">
                      <a:noAutofit/>
                    </a:bodyPr>
                    <a:lstStyle/>
                    <a:p>
                      <a:r>
                        <a:rPr sz="1425" b="0">
                          <a:solidFill>
                            <a:srgbClr val="253748"/>
                          </a:solidFill>
                          <a:latin typeface="Arial"/>
                          <a:ea typeface="Arial"/>
                          <a:cs typeface="Arial"/>
                        </a:rPr>
                        <a:t>Pablo Duplessy</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425" b="0">
                          <a:solidFill>
                            <a:srgbClr val="253748"/>
                          </a:solidFill>
                          <a:latin typeface="Arial"/>
                          <a:ea typeface="Arial"/>
                          <a:cs typeface="Arial"/>
                        </a:rPr>
                        <a:t>Change Management Zeetrex</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425" b="0">
                          <a:solidFill>
                            <a:srgbClr val="253748"/>
                          </a:solidFill>
                          <a:latin typeface="Arial"/>
                          <a:ea typeface="Arial"/>
                          <a:cs typeface="Arial"/>
                        </a:rPr>
                        <a:t>Gestión del Cambio Zeetrex (CMZ)</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511969">
                <a:tc>
                  <a:txBody>
                    <a:bodyPr wrap="square" lIns="114300" tIns="76200" rIns="114300" bIns="76200">
                      <a:noAutofit/>
                    </a:bodyPr>
                    <a:lstStyle/>
                    <a:p>
                      <a:r>
                        <a:rPr sz="1425" b="0">
                          <a:solidFill>
                            <a:srgbClr val="253748"/>
                          </a:solidFill>
                          <a:latin typeface="Arial"/>
                          <a:ea typeface="Arial"/>
                          <a:cs typeface="Arial"/>
                        </a:rPr>
                        <a:t>Alejandro Ledesma / Eduardo Ettlin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425" b="0">
                          <a:solidFill>
                            <a:srgbClr val="253748"/>
                          </a:solidFill>
                          <a:latin typeface="Arial"/>
                          <a:ea typeface="Arial"/>
                          <a:cs typeface="Arial"/>
                        </a:rPr>
                        <a:t>Desarrollo Zeetrex</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425" b="0">
                          <a:solidFill>
                            <a:srgbClr val="253748"/>
                          </a:solidFill>
                          <a:latin typeface="Arial"/>
                          <a:ea typeface="Arial"/>
                          <a:cs typeface="Arial"/>
                        </a:rPr>
                        <a:t>Autoridad técnica y coordinación L2 (ZT)</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9991963-705D-4463-91BC-512591CCDFB3}"/>
              </a:ext>
            </a:extLst>
          </p:cNvPr>
          <p:cNvSpPr>
            <a:spLocks xmlns:a="http://schemas.openxmlformats.org/drawingml/2006/main" noGrp="1"/>
          </p:cNvSpPr>
          <p:nvPr/>
        </p:nvSpPr>
        <p:spPr>
          <a:xfrm xmlns:a="http://schemas.openxmlformats.org/drawingml/2006/main">
            <a:off x="609600" y="604837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1">
                <a:solidFill>
                  <a:srgbClr val="BA631A"/>
                </a:solidFill>
                <a:latin typeface="Arial"/>
                <a:ea typeface="Arial"/>
                <a:cs typeface="Arial"/>
              </a:defRPr>
            </a:defPPr>
            <a:lvl1pPr>
              <a:defRPr sz="1575" b="1">
                <a:solidFill>
                  <a:srgbClr val="BA631A"/>
                </a:solidFill>
                <a:latin typeface="Arial"/>
                <a:ea typeface="Arial"/>
                <a:cs typeface="Arial"/>
              </a:defRPr>
            </a:lvl1pPr>
            <a:lvl2pPr>
              <a:defRPr sz="1575" b="1">
                <a:solidFill>
                  <a:srgbClr val="BA631A"/>
                </a:solidFill>
                <a:latin typeface="Arial"/>
                <a:ea typeface="Arial"/>
                <a:cs typeface="Arial"/>
              </a:defRPr>
            </a:lvl2pPr>
            <a:lvl3pPr>
              <a:defRPr sz="1575" b="1">
                <a:solidFill>
                  <a:srgbClr val="BA631A"/>
                </a:solidFill>
                <a:latin typeface="Arial"/>
                <a:ea typeface="Arial"/>
                <a:cs typeface="Arial"/>
              </a:defRPr>
            </a:lvl3pPr>
            <a:lvl4pPr>
              <a:defRPr sz="1575" b="1">
                <a:solidFill>
                  <a:srgbClr val="BA631A"/>
                </a:solidFill>
                <a:latin typeface="Arial"/>
                <a:ea typeface="Arial"/>
                <a:cs typeface="Arial"/>
              </a:defRPr>
            </a:lvl4pPr>
            <a:lvl5pPr>
              <a:defRPr sz="1575" b="1">
                <a:solidFill>
                  <a:srgbClr val="BA631A"/>
                </a:solidFill>
                <a:latin typeface="Arial"/>
                <a:ea typeface="Arial"/>
                <a:cs typeface="Arial"/>
              </a:defRPr>
            </a:lvl5pPr>
            <a:lvl6pPr>
              <a:defRPr sz="1575" b="1">
                <a:solidFill>
                  <a:srgbClr val="BA631A"/>
                </a:solidFill>
                <a:latin typeface="Arial"/>
                <a:ea typeface="Arial"/>
                <a:cs typeface="Arial"/>
              </a:defRPr>
            </a:lvl6pPr>
            <a:lvl7pPr>
              <a:defRPr sz="1575" b="1">
                <a:solidFill>
                  <a:srgbClr val="BA631A"/>
                </a:solidFill>
                <a:latin typeface="Arial"/>
                <a:ea typeface="Arial"/>
                <a:cs typeface="Arial"/>
              </a:defRPr>
            </a:lvl7pPr>
            <a:lvl8pPr>
              <a:defRPr sz="1575" b="1">
                <a:solidFill>
                  <a:srgbClr val="BA631A"/>
                </a:solidFill>
                <a:latin typeface="Arial"/>
                <a:ea typeface="Arial"/>
                <a:cs typeface="Arial"/>
              </a:defRPr>
            </a:lvl8pPr>
            <a:lvl9pPr>
              <a:defRPr sz="1575" b="1">
                <a:solidFill>
                  <a:srgbClr val="BA631A"/>
                </a:solidFill>
                <a:latin typeface="Arial"/>
                <a:ea typeface="Arial"/>
                <a:cs typeface="Arial"/>
              </a:defRPr>
            </a:lvl9pPr>
          </a:lstStyle>
          <a:p xmlns:a="http://schemas.openxmlformats.org/drawingml/2006/main">
            <a:pPr>
              <a:defRPr sz="1575" b="1">
                <a:solidFill>
                  <a:srgbClr val="BA631A"/>
                </a:solidFill>
                <a:latin typeface="Arial"/>
                <a:ea typeface="Arial"/>
                <a:cs typeface="Arial"/>
              </a:defRPr>
            </a:pPr>
            <a:r>
              <a:rPr sz="1575" b="1">
                <a:solidFill>
                  <a:srgbClr val="BA631A"/>
                </a:solidFill>
                <a:latin typeface="Arial"/>
                <a:ea typeface="Arial"/>
                <a:cs typeface="Arial"/>
              </a:rPr>
              <a:t>Falta designar el equipo operativo DIARCO y confirmar su dedicación.</a:t>
            </a:r>
          </a:p>
        </p:txBody>
      </p:sp>
    </p:spTree>
    <p:extLst>
      <p:ext uri="{BB962C8B-B14F-4D97-AF65-F5344CB8AC3E}">
        <p14:creationId xmlns:p14="http://schemas.microsoft.com/office/powerpoint/2010/main" val="1995535438"/>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568642-FA76-4A48-B167-A0092637D57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Bloque 1 comercial: preparación y uso</a:t>
            </a:r>
          </a:p>
        </p:txBody>
      </p:sp>
      <p:sp>
        <p:nvSpPr>
          <p:cNvPr id="2" name="">
            <a:extLst xmlns:a="http://schemas.openxmlformats.org/drawingml/2006/main">
              <a:ext uri="{FF2B5EF4-FFF2-40B4-BE49-F238E27FC236}">
                <a16:creationId xmlns:a16="http://schemas.microsoft.com/office/drawing/2014/main" id="{C2EE93CF-9CD5-4FEC-BC4B-9DDE3F6257CA}"/>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3F198BD-4014-40E5-9E1B-54151CC4749A}"/>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FB867274-D24D-4846-9E85-35D694830DB2}"/>
              </a:ext>
            </a:extLst>
          </p:cNvPr>
          <p:cNvGraphicFramePr/>
          <p:nvPr/>
        </p:nvGraphicFramePr>
        <p:xfrm>
          <a:off xmlns:a="http://schemas.openxmlformats.org/drawingml/2006/main" x="609600" y="1762125"/>
          <a:ext xmlns:a="http://schemas.openxmlformats.org/drawingml/2006/main" cx="10972800" cy="4000500"/>
        </p:xfrm>
        <a:graphic xmlns:a="http://schemas.openxmlformats.org/drawingml/2006/main">
          <a:graphicData uri="http://schemas.openxmlformats.org/drawingml/2006/table">
            <a:tbl>
              <a:tblPr/>
              <a:tblGrid>
                <a:gridCol w="2524125"/>
                <a:gridCol w="5572125"/>
                <a:gridCol w="2876550"/>
              </a:tblGrid>
              <a:tr h="666750">
                <a:tc>
                  <a:txBody>
                    <a:bodyPr wrap="square" lIns="114300" tIns="76200" rIns="114300" bIns="76200">
                      <a:noAutofit/>
                    </a:bodyPr>
                    <a:lstStyle/>
                    <a:p>
                      <a:r>
                        <a:rPr sz="1650" b="1">
                          <a:solidFill>
                            <a:srgbClr val="FFFFFF"/>
                          </a:solidFill>
                          <a:latin typeface="Arial"/>
                          <a:ea typeface="Arial"/>
                          <a:cs typeface="Arial"/>
                        </a:rPr>
                        <a:t>Frente</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650" b="1">
                          <a:solidFill>
                            <a:srgbClr val="FFFFFF"/>
                          </a:solidFill>
                          <a:latin typeface="Arial"/>
                          <a:ea typeface="Arial"/>
                          <a:cs typeface="Arial"/>
                        </a:rPr>
                        <a:t>Qué debe demostrar DIARCO</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650" b="1">
                          <a:solidFill>
                            <a:srgbClr val="FFFFFF"/>
                          </a:solidFill>
                          <a:latin typeface="Arial"/>
                          <a:ea typeface="Arial"/>
                          <a:cs typeface="Arial"/>
                        </a:rPr>
                        <a:t>Referente a confirmar</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r>
              <a:tr h="666750">
                <a:tc>
                  <a:txBody>
                    <a:bodyPr wrap="square" lIns="114300" tIns="76200" rIns="114300" bIns="76200">
                      <a:noAutofit/>
                    </a:bodyPr>
                    <a:lstStyle/>
                    <a:p>
                      <a:r>
                        <a:rPr sz="1650" b="0">
                          <a:solidFill>
                            <a:srgbClr val="253748"/>
                          </a:solidFill>
                          <a:latin typeface="Arial"/>
                          <a:ea typeface="Arial"/>
                          <a:cs typeface="Arial"/>
                        </a:rPr>
                        <a:t>Catálogo y maestros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Datos correctos y cambio trazable en los destinos.</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Guillermo Alvez / Datos Maestros</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66750">
                <a:tc>
                  <a:txBody>
                    <a:bodyPr wrap="square" lIns="114300" tIns="76200" rIns="114300" bIns="76200">
                      <a:noAutofit/>
                    </a:bodyPr>
                    <a:lstStyle/>
                    <a:p>
                      <a:r>
                        <a:rPr sz="1650" b="0">
                          <a:solidFill>
                            <a:srgbClr val="253748"/>
                          </a:solidFill>
                          <a:latin typeface="Arial"/>
                          <a:ea typeface="Arial"/>
                          <a:cs typeface="Arial"/>
                        </a:rPr>
                        <a:t>Surtido y clusters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Elegibilidad y excepciones por artículo/sucursal.</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Liliana D’Amico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66750">
                <a:tc>
                  <a:txBody>
                    <a:bodyPr wrap="square" lIns="114300" tIns="76200" rIns="114300" bIns="76200">
                      <a:noAutofit/>
                    </a:bodyPr>
                    <a:lstStyle/>
                    <a:p>
                      <a:r>
                        <a:rPr sz="1650" b="0">
                          <a:solidFill>
                            <a:srgbClr val="253748"/>
                          </a:solidFill>
                          <a:latin typeface="Arial"/>
                          <a:ea typeface="Arial"/>
                          <a:cs typeface="Arial"/>
                        </a:rPr>
                        <a:t>Listas y acuerdos de compra</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Vigencias, descuentos y netos explicables.</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Sebastián Basconcelos</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66750">
                <a:tc>
                  <a:txBody>
                    <a:bodyPr wrap="square" lIns="114300" tIns="76200" rIns="114300" bIns="76200">
                      <a:noAutofit/>
                    </a:bodyPr>
                    <a:lstStyle/>
                    <a:p>
                      <a:r>
                        <a:rPr sz="1650" b="0">
                          <a:solidFill>
                            <a:srgbClr val="253748"/>
                          </a:solidFill>
                          <a:latin typeface="Arial"/>
                          <a:ea typeface="Arial"/>
                          <a:cs typeface="Arial"/>
                        </a:rPr>
                        <a:t>Abastecimiento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Propuesta revisada con entradas y motivos visibles.</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Compras por categoría: 6 contactos</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66750">
                <a:tc>
                  <a:txBody>
                    <a:bodyPr wrap="square" lIns="114300" tIns="76200" rIns="114300" bIns="76200">
                      <a:noAutofit/>
                    </a:bodyPr>
                    <a:lstStyle/>
                    <a:p>
                      <a:r>
                        <a:rPr sz="1650" b="0">
                          <a:solidFill>
                            <a:srgbClr val="253748"/>
                          </a:solidFill>
                          <a:latin typeface="Arial"/>
                          <a:ea typeface="Arial"/>
                          <a:cs typeface="Arial"/>
                        </a:rPr>
                        <a:t>OC e integración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Aprobación única y valorización conciliada.</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Compras por categoría: 6 contactos</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AAAF3C0-85BB-4D37-9BBB-880FFD39A9F9}"/>
              </a:ext>
            </a:extLst>
          </p:cNvPr>
          <p:cNvSpPr>
            <a:spLocks xmlns:a="http://schemas.openxmlformats.org/drawingml/2006/main" noGrp="1"/>
          </p:cNvSpPr>
          <p:nvPr/>
        </p:nvSpPr>
        <p:spPr>
          <a:xfrm xmlns:a="http://schemas.openxmlformats.org/drawingml/2006/main">
            <a:off x="609600" y="59626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86B7A"/>
                </a:solidFill>
                <a:latin typeface="Arial"/>
                <a:ea typeface="Arial"/>
                <a:cs typeface="Arial"/>
              </a:defRPr>
            </a:defPPr>
            <a:lvl1pPr>
              <a:defRPr sz="1500" b="0">
                <a:solidFill>
                  <a:srgbClr val="586B7A"/>
                </a:solidFill>
                <a:latin typeface="Arial"/>
                <a:ea typeface="Arial"/>
                <a:cs typeface="Arial"/>
              </a:defRPr>
            </a:lvl1pPr>
            <a:lvl2pPr>
              <a:defRPr sz="1500" b="0">
                <a:solidFill>
                  <a:srgbClr val="586B7A"/>
                </a:solidFill>
                <a:latin typeface="Arial"/>
                <a:ea typeface="Arial"/>
                <a:cs typeface="Arial"/>
              </a:defRPr>
            </a:lvl2pPr>
            <a:lvl3pPr>
              <a:defRPr sz="1500" b="0">
                <a:solidFill>
                  <a:srgbClr val="586B7A"/>
                </a:solidFill>
                <a:latin typeface="Arial"/>
                <a:ea typeface="Arial"/>
                <a:cs typeface="Arial"/>
              </a:defRPr>
            </a:lvl3pPr>
            <a:lvl4pPr>
              <a:defRPr sz="1500" b="0">
                <a:solidFill>
                  <a:srgbClr val="586B7A"/>
                </a:solidFill>
                <a:latin typeface="Arial"/>
                <a:ea typeface="Arial"/>
                <a:cs typeface="Arial"/>
              </a:defRPr>
            </a:lvl4pPr>
            <a:lvl5pPr>
              <a:defRPr sz="1500" b="0">
                <a:solidFill>
                  <a:srgbClr val="586B7A"/>
                </a:solidFill>
                <a:latin typeface="Arial"/>
                <a:ea typeface="Arial"/>
                <a:cs typeface="Arial"/>
              </a:defRPr>
            </a:lvl5pPr>
            <a:lvl6pPr>
              <a:defRPr sz="1500" b="0">
                <a:solidFill>
                  <a:srgbClr val="586B7A"/>
                </a:solidFill>
                <a:latin typeface="Arial"/>
                <a:ea typeface="Arial"/>
                <a:cs typeface="Arial"/>
              </a:defRPr>
            </a:lvl6pPr>
            <a:lvl7pPr>
              <a:defRPr sz="1500" b="0">
                <a:solidFill>
                  <a:srgbClr val="586B7A"/>
                </a:solidFill>
                <a:latin typeface="Arial"/>
                <a:ea typeface="Arial"/>
                <a:cs typeface="Arial"/>
              </a:defRPr>
            </a:lvl7pPr>
            <a:lvl8pPr>
              <a:defRPr sz="1500" b="0">
                <a:solidFill>
                  <a:srgbClr val="586B7A"/>
                </a:solidFill>
                <a:latin typeface="Arial"/>
                <a:ea typeface="Arial"/>
                <a:cs typeface="Arial"/>
              </a:defRPr>
            </a:lvl8pPr>
            <a:lvl9pPr>
              <a:defRPr sz="1500" b="0">
                <a:solidFill>
                  <a:srgbClr val="586B7A"/>
                </a:solidFill>
                <a:latin typeface="Arial"/>
                <a:ea typeface="Arial"/>
                <a:cs typeface="Arial"/>
              </a:defRPr>
            </a:lvl9pPr>
          </a:lstStyle>
          <a:p xmlns:a="http://schemas.openxmlformats.org/drawingml/2006/main">
            <a:pPr>
              <a:defRPr sz="1500" b="0">
                <a:solidFill>
                  <a:srgbClr val="586B7A"/>
                </a:solidFill>
                <a:latin typeface="Arial"/>
                <a:ea typeface="Arial"/>
                <a:cs typeface="Arial"/>
              </a:defRPr>
            </a:pPr>
            <a:r>
              <a:rPr sz="1500" b="0">
                <a:solidFill>
                  <a:srgbClr val="586B7A"/>
                </a:solidFill>
                <a:latin typeface="Arial"/>
                <a:ea typeface="Arial"/>
                <a:cs typeface="Arial"/>
              </a:rPr>
              <a:t>Los interlocutores de las fuentes todavía deben aceptar función, suplencia y horas.</a:t>
            </a:r>
          </a:p>
        </p:txBody>
      </p:sp>
    </p:spTree>
    <p:extLst>
      <p:ext uri="{BB962C8B-B14F-4D97-AF65-F5344CB8AC3E}">
        <p14:creationId xmlns:p14="http://schemas.microsoft.com/office/powerpoint/2010/main" val="1276505709"/>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763D8E-A05D-40AB-A518-030454D0D3B8}"/>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Bloque 1 operativo: convivencia con SGM</a:t>
            </a:r>
          </a:p>
        </p:txBody>
      </p:sp>
      <p:sp>
        <p:nvSpPr>
          <p:cNvPr id="2" name="">
            <a:extLst xmlns:a="http://schemas.openxmlformats.org/drawingml/2006/main">
              <a:ext uri="{FF2B5EF4-FFF2-40B4-BE49-F238E27FC236}">
                <a16:creationId xmlns:a16="http://schemas.microsoft.com/office/drawing/2014/main" id="{72BF7AC4-B59A-435A-9D33-4892AE210EBF}"/>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7CBC5B7-32E4-4508-B783-EA8F3669F05F}"/>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F4DC331D-A9B7-4D8B-86E2-5566232D0B81}"/>
              </a:ext>
            </a:extLst>
          </p:cNvPr>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a:tblGrid>
                <a:gridCol w="2524125"/>
                <a:gridCol w="4714875"/>
                <a:gridCol w="3733800"/>
              </a:tblGrid>
              <a:tr h="682625">
                <a:tc>
                  <a:txBody>
                    <a:bodyPr wrap="square" lIns="114300" tIns="76200" rIns="114300" bIns="76200">
                      <a:noAutofit/>
                    </a:bodyPr>
                    <a:lstStyle/>
                    <a:p>
                      <a:r>
                        <a:rPr sz="1650" b="1">
                          <a:solidFill>
                            <a:srgbClr val="FFFFFF"/>
                          </a:solidFill>
                          <a:latin typeface="Arial"/>
                          <a:ea typeface="Arial"/>
                          <a:cs typeface="Arial"/>
                        </a:rPr>
                        <a:t>Frente</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650" b="1">
                          <a:solidFill>
                            <a:srgbClr val="FFFFFF"/>
                          </a:solidFill>
                          <a:latin typeface="Arial"/>
                          <a:ea typeface="Arial"/>
                          <a:cs typeface="Arial"/>
                        </a:rPr>
                        <a:t>Qué se valida</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650" b="1">
                          <a:solidFill>
                            <a:srgbClr val="FFFFFF"/>
                          </a:solidFill>
                          <a:latin typeface="Arial"/>
                          <a:ea typeface="Arial"/>
                          <a:cs typeface="Arial"/>
                        </a:rPr>
                        <a:t>Condición operativa</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r>
              <a:tr h="682625">
                <a:tc>
                  <a:txBody>
                    <a:bodyPr wrap="square" lIns="114300" tIns="76200" rIns="114300" bIns="76200">
                      <a:noAutofit/>
                    </a:bodyPr>
                    <a:lstStyle/>
                    <a:p>
                      <a:r>
                        <a:rPr sz="1650" b="0">
                          <a:solidFill>
                            <a:srgbClr val="253748"/>
                          </a:solidFill>
                          <a:latin typeface="Arial"/>
                          <a:ea typeface="Arial"/>
                          <a:cs typeface="Arial"/>
                        </a:rPr>
                        <a:t>Recepción PDA / WEB</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Cantidades, diferencias y pendientes.</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Stock y pendientes oficiales en SGM.</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82625">
                <a:tc>
                  <a:txBody>
                    <a:bodyPr wrap="square" lIns="114300" tIns="76200" rIns="114300" bIns="76200">
                      <a:noAutofit/>
                    </a:bodyPr>
                    <a:lstStyle/>
                    <a:p>
                      <a:r>
                        <a:rPr sz="1650" b="0">
                          <a:solidFill>
                            <a:srgbClr val="253748"/>
                          </a:solidFill>
                          <a:latin typeface="Arial"/>
                          <a:ea typeface="Arial"/>
                          <a:cs typeface="Arial"/>
                        </a:rPr>
                        <a:t>Inventarios y ajustes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Conteo, autorización y ajuste una sola vez.</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Impacto definitivo en SGM.</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82625">
                <a:tc>
                  <a:txBody>
                    <a:bodyPr wrap="square" lIns="114300" tIns="76200" rIns="114300" bIns="76200">
                      <a:noAutofit/>
                    </a:bodyPr>
                    <a:lstStyle/>
                    <a:p>
                      <a:r>
                        <a:rPr sz="1650" b="0">
                          <a:solidFill>
                            <a:srgbClr val="253748"/>
                          </a:solidFill>
                          <a:latin typeface="Arial"/>
                          <a:ea typeface="Arial"/>
                          <a:cs typeface="Arial"/>
                        </a:rPr>
                        <a:t>PDD y necesidades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Parámetros, cálculo y backlog trazables.</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Cobertura Inventory y contrato vigente.</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82625">
                <a:tc>
                  <a:txBody>
                    <a:bodyPr wrap="square" lIns="114300" tIns="76200" rIns="114300" bIns="76200">
                      <a:noAutofit/>
                    </a:bodyPr>
                    <a:lstStyle/>
                    <a:p>
                      <a:r>
                        <a:rPr sz="1650" b="0">
                          <a:solidFill>
                            <a:srgbClr val="253748"/>
                          </a:solidFill>
                          <a:latin typeface="Arial"/>
                          <a:ea typeface="Arial"/>
                          <a:cs typeface="Arial"/>
                        </a:rPr>
                        <a:t>Transferencias / distribución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Intercambio y retorno con Valkimia.</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API o Excel validado con CD/VKM.</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82625">
                <a:tc>
                  <a:txBody>
                    <a:bodyPr wrap="square" lIns="114300" tIns="76200" rIns="114300" bIns="76200">
                      <a:noAutofit/>
                    </a:bodyPr>
                    <a:lstStyle/>
                    <a:p>
                      <a:r>
                        <a:rPr sz="1650" b="0">
                          <a:solidFill>
                            <a:srgbClr val="253748"/>
                          </a:solidFill>
                          <a:latin typeface="Arial"/>
                          <a:ea typeface="Arial"/>
                          <a:cs typeface="Arial"/>
                        </a:rPr>
                        <a:t>Stock y observabilidad</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Conciliación, alertas y recuperación.</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Dueños, cortes y latencias acordados.</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Tree>
    <p:extLst>
      <p:ext uri="{BB962C8B-B14F-4D97-AF65-F5344CB8AC3E}">
        <p14:creationId xmlns:p14="http://schemas.microsoft.com/office/powerpoint/2010/main" val="167272806"/>
      </p:ext>
    </p:extLst>
  </p:cSld>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F815372-8C51-420C-BBF4-2954C05291A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Desde el 04/11: smoke, paralelo y aceptación</a:t>
            </a:r>
          </a:p>
        </p:txBody>
      </p:sp>
      <p:sp>
        <p:nvSpPr>
          <p:cNvPr id="2" name="">
            <a:extLst xmlns:a="http://schemas.openxmlformats.org/drawingml/2006/main">
              <a:ext uri="{FF2B5EF4-FFF2-40B4-BE49-F238E27FC236}">
                <a16:creationId xmlns:a16="http://schemas.microsoft.com/office/drawing/2014/main" id="{80F64142-638A-4A3C-8591-A37BFEEC0A3A}"/>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0928DDD-71E5-4335-AADF-40765AFAF1DE}"/>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7ABDC7EA-8032-4FC2-83C9-8106F76F765C}"/>
              </a:ext>
            </a:extLst>
          </p:cNvPr>
          <p:cNvSpPr>
            <a:spLocks xmlns:a="http://schemas.openxmlformats.org/drawingml/2006/main" noGrp="1"/>
          </p:cNvSpPr>
          <p:nvPr/>
        </p:nvSpPr>
        <p:spPr>
          <a:xfrm xmlns:a="http://schemas.openxmlformats.org/drawingml/2006/main">
            <a:off x="609600" y="1962150"/>
            <a:ext cx="2381250" cy="38100"/>
          </a:xfrm>
          <a:prstGeom xmlns:a="http://schemas.openxmlformats.org/drawingml/2006/main" prst="rect">
            <a:avLst/>
          </a:prstGeom>
          <a:solidFill xmlns:a="http://schemas.openxmlformats.org/drawingml/2006/main">
            <a:srgbClr val="26678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A553E50-CC7D-46CC-9FD9-4D040D8821A8}"/>
              </a:ext>
            </a:extLst>
          </p:cNvPr>
          <p:cNvSpPr>
            <a:spLocks xmlns:a="http://schemas.openxmlformats.org/drawingml/2006/main" noGrp="1"/>
          </p:cNvSpPr>
          <p:nvPr/>
        </p:nvSpPr>
        <p:spPr>
          <a:xfrm xmlns:a="http://schemas.openxmlformats.org/drawingml/2006/main">
            <a:off x="609600" y="2190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6678D"/>
                </a:solidFill>
                <a:latin typeface="Arial"/>
                <a:ea typeface="Arial"/>
                <a:cs typeface="Arial"/>
              </a:defRPr>
            </a:defPPr>
            <a:lvl1pPr>
              <a:defRPr sz="3450" b="1">
                <a:solidFill>
                  <a:srgbClr val="26678D"/>
                </a:solidFill>
                <a:latin typeface="Arial"/>
                <a:ea typeface="Arial"/>
                <a:cs typeface="Arial"/>
              </a:defRPr>
            </a:lvl1pPr>
            <a:lvl2pPr>
              <a:defRPr sz="3450" b="1">
                <a:solidFill>
                  <a:srgbClr val="26678D"/>
                </a:solidFill>
                <a:latin typeface="Arial"/>
                <a:ea typeface="Arial"/>
                <a:cs typeface="Arial"/>
              </a:defRPr>
            </a:lvl2pPr>
            <a:lvl3pPr>
              <a:defRPr sz="3450" b="1">
                <a:solidFill>
                  <a:srgbClr val="26678D"/>
                </a:solidFill>
                <a:latin typeface="Arial"/>
                <a:ea typeface="Arial"/>
                <a:cs typeface="Arial"/>
              </a:defRPr>
            </a:lvl3pPr>
            <a:lvl4pPr>
              <a:defRPr sz="3450" b="1">
                <a:solidFill>
                  <a:srgbClr val="26678D"/>
                </a:solidFill>
                <a:latin typeface="Arial"/>
                <a:ea typeface="Arial"/>
                <a:cs typeface="Arial"/>
              </a:defRPr>
            </a:lvl4pPr>
            <a:lvl5pPr>
              <a:defRPr sz="3450" b="1">
                <a:solidFill>
                  <a:srgbClr val="26678D"/>
                </a:solidFill>
                <a:latin typeface="Arial"/>
                <a:ea typeface="Arial"/>
                <a:cs typeface="Arial"/>
              </a:defRPr>
            </a:lvl5pPr>
            <a:lvl6pPr>
              <a:defRPr sz="3450" b="1">
                <a:solidFill>
                  <a:srgbClr val="26678D"/>
                </a:solidFill>
                <a:latin typeface="Arial"/>
                <a:ea typeface="Arial"/>
                <a:cs typeface="Arial"/>
              </a:defRPr>
            </a:lvl6pPr>
            <a:lvl7pPr>
              <a:defRPr sz="3450" b="1">
                <a:solidFill>
                  <a:srgbClr val="26678D"/>
                </a:solidFill>
                <a:latin typeface="Arial"/>
                <a:ea typeface="Arial"/>
                <a:cs typeface="Arial"/>
              </a:defRPr>
            </a:lvl7pPr>
            <a:lvl8pPr>
              <a:defRPr sz="3450" b="1">
                <a:solidFill>
                  <a:srgbClr val="26678D"/>
                </a:solidFill>
                <a:latin typeface="Arial"/>
                <a:ea typeface="Arial"/>
                <a:cs typeface="Arial"/>
              </a:defRPr>
            </a:lvl8pPr>
            <a:lvl9pPr>
              <a:defRPr sz="3450" b="1">
                <a:solidFill>
                  <a:srgbClr val="26678D"/>
                </a:solidFill>
                <a:latin typeface="Arial"/>
                <a:ea typeface="Arial"/>
                <a:cs typeface="Arial"/>
              </a:defRPr>
            </a:lvl9pPr>
          </a:lstStyle>
          <a:p xmlns:a="http://schemas.openxmlformats.org/drawingml/2006/main">
            <a:pPr>
              <a:defRPr sz="3450" b="1">
                <a:solidFill>
                  <a:srgbClr val="26678D"/>
                </a:solidFill>
                <a:latin typeface="Arial"/>
                <a:ea typeface="Arial"/>
                <a:cs typeface="Arial"/>
              </a:defRPr>
            </a:pPr>
            <a:r>
              <a:rPr sz="3450" b="1">
                <a:solidFill>
                  <a:srgbClr val="26678D"/>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6A805B14-81C0-4616-815D-A3D6FE89096C}"/>
              </a:ext>
            </a:extLst>
          </p:cNvPr>
          <p:cNvSpPr>
            <a:spLocks xmlns:a="http://schemas.openxmlformats.org/drawingml/2006/main" noGrp="1"/>
          </p:cNvSpPr>
          <p:nvPr/>
        </p:nvSpPr>
        <p:spPr>
          <a:xfrm xmlns:a="http://schemas.openxmlformats.org/drawingml/2006/main">
            <a:off x="609600" y="2876550"/>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9334C"/>
                </a:solidFill>
                <a:latin typeface="Arial"/>
                <a:ea typeface="Arial"/>
                <a:cs typeface="Arial"/>
              </a:defRPr>
            </a:defPPr>
            <a:lvl1pPr>
              <a:defRPr sz="2175" b="1">
                <a:solidFill>
                  <a:srgbClr val="19334C"/>
                </a:solidFill>
                <a:latin typeface="Arial"/>
                <a:ea typeface="Arial"/>
                <a:cs typeface="Arial"/>
              </a:defRPr>
            </a:lvl1pPr>
            <a:lvl2pPr>
              <a:defRPr sz="2175" b="1">
                <a:solidFill>
                  <a:srgbClr val="19334C"/>
                </a:solidFill>
                <a:latin typeface="Arial"/>
                <a:ea typeface="Arial"/>
                <a:cs typeface="Arial"/>
              </a:defRPr>
            </a:lvl2pPr>
            <a:lvl3pPr>
              <a:defRPr sz="2175" b="1">
                <a:solidFill>
                  <a:srgbClr val="19334C"/>
                </a:solidFill>
                <a:latin typeface="Arial"/>
                <a:ea typeface="Arial"/>
                <a:cs typeface="Arial"/>
              </a:defRPr>
            </a:lvl3pPr>
            <a:lvl4pPr>
              <a:defRPr sz="2175" b="1">
                <a:solidFill>
                  <a:srgbClr val="19334C"/>
                </a:solidFill>
                <a:latin typeface="Arial"/>
                <a:ea typeface="Arial"/>
                <a:cs typeface="Arial"/>
              </a:defRPr>
            </a:lvl4pPr>
            <a:lvl5pPr>
              <a:defRPr sz="2175" b="1">
                <a:solidFill>
                  <a:srgbClr val="19334C"/>
                </a:solidFill>
                <a:latin typeface="Arial"/>
                <a:ea typeface="Arial"/>
                <a:cs typeface="Arial"/>
              </a:defRPr>
            </a:lvl5pPr>
            <a:lvl6pPr>
              <a:defRPr sz="2175" b="1">
                <a:solidFill>
                  <a:srgbClr val="19334C"/>
                </a:solidFill>
                <a:latin typeface="Arial"/>
                <a:ea typeface="Arial"/>
                <a:cs typeface="Arial"/>
              </a:defRPr>
            </a:lvl6pPr>
            <a:lvl7pPr>
              <a:defRPr sz="2175" b="1">
                <a:solidFill>
                  <a:srgbClr val="19334C"/>
                </a:solidFill>
                <a:latin typeface="Arial"/>
                <a:ea typeface="Arial"/>
                <a:cs typeface="Arial"/>
              </a:defRPr>
            </a:lvl7pPr>
            <a:lvl8pPr>
              <a:defRPr sz="2175" b="1">
                <a:solidFill>
                  <a:srgbClr val="19334C"/>
                </a:solidFill>
                <a:latin typeface="Arial"/>
                <a:ea typeface="Arial"/>
                <a:cs typeface="Arial"/>
              </a:defRPr>
            </a:lvl8pPr>
            <a:lvl9pPr>
              <a:defRPr sz="2175" b="1">
                <a:solidFill>
                  <a:srgbClr val="19334C"/>
                </a:solidFill>
                <a:latin typeface="Arial"/>
                <a:ea typeface="Arial"/>
                <a:cs typeface="Arial"/>
              </a:defRPr>
            </a:lvl9pPr>
          </a:lstStyle>
          <a:p xmlns:a="http://schemas.openxmlformats.org/drawingml/2006/main">
            <a:pPr>
              <a:defRPr sz="2175" b="1">
                <a:solidFill>
                  <a:srgbClr val="19334C"/>
                </a:solidFill>
                <a:latin typeface="Arial"/>
                <a:ea typeface="Arial"/>
                <a:cs typeface="Arial"/>
              </a:defRPr>
            </a:pPr>
            <a:r>
              <a:rPr sz="2175" b="1">
                <a:solidFill>
                  <a:srgbClr val="19334C"/>
                </a:solidFill>
                <a:latin typeface="Arial"/>
                <a:ea typeface="Arial"/>
                <a:cs typeface="Arial"/>
              </a:rPr>
              <a:t>Disponibilidad</a:t>
            </a:r>
          </a:p>
        </p:txBody>
      </p:sp>
      <p:sp>
        <p:nvSpPr>
          <p:cNvPr id="7" name="">
            <a:extLst xmlns:a="http://schemas.openxmlformats.org/drawingml/2006/main">
              <a:ext uri="{FF2B5EF4-FFF2-40B4-BE49-F238E27FC236}">
                <a16:creationId xmlns:a16="http://schemas.microsoft.com/office/drawing/2014/main" id="{02EB554A-1927-4FA2-A5AD-3E1B25623B2E}"/>
              </a:ext>
            </a:extLst>
          </p:cNvPr>
          <p:cNvSpPr>
            <a:spLocks xmlns:a="http://schemas.openxmlformats.org/drawingml/2006/main" noGrp="1"/>
          </p:cNvSpPr>
          <p:nvPr/>
        </p:nvSpPr>
        <p:spPr>
          <a:xfrm xmlns:a="http://schemas.openxmlformats.org/drawingml/2006/main">
            <a:off x="609600" y="3829050"/>
            <a:ext cx="24193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53748"/>
                </a:solidFill>
                <a:latin typeface="Arial"/>
                <a:ea typeface="Arial"/>
                <a:cs typeface="Arial"/>
              </a:defRPr>
            </a:defPPr>
            <a:lvl1pPr>
              <a:defRPr sz="1875" b="0">
                <a:solidFill>
                  <a:srgbClr val="253748"/>
                </a:solidFill>
                <a:latin typeface="Arial"/>
                <a:ea typeface="Arial"/>
                <a:cs typeface="Arial"/>
              </a:defRPr>
            </a:lvl1pPr>
            <a:lvl2pPr>
              <a:defRPr sz="1875" b="0">
                <a:solidFill>
                  <a:srgbClr val="253748"/>
                </a:solidFill>
                <a:latin typeface="Arial"/>
                <a:ea typeface="Arial"/>
                <a:cs typeface="Arial"/>
              </a:defRPr>
            </a:lvl2pPr>
            <a:lvl3pPr>
              <a:defRPr sz="1875" b="0">
                <a:solidFill>
                  <a:srgbClr val="253748"/>
                </a:solidFill>
                <a:latin typeface="Arial"/>
                <a:ea typeface="Arial"/>
                <a:cs typeface="Arial"/>
              </a:defRPr>
            </a:lvl3pPr>
            <a:lvl4pPr>
              <a:defRPr sz="1875" b="0">
                <a:solidFill>
                  <a:srgbClr val="253748"/>
                </a:solidFill>
                <a:latin typeface="Arial"/>
                <a:ea typeface="Arial"/>
                <a:cs typeface="Arial"/>
              </a:defRPr>
            </a:lvl4pPr>
            <a:lvl5pPr>
              <a:defRPr sz="1875" b="0">
                <a:solidFill>
                  <a:srgbClr val="253748"/>
                </a:solidFill>
                <a:latin typeface="Arial"/>
                <a:ea typeface="Arial"/>
                <a:cs typeface="Arial"/>
              </a:defRPr>
            </a:lvl5pPr>
            <a:lvl6pPr>
              <a:defRPr sz="1875" b="0">
                <a:solidFill>
                  <a:srgbClr val="253748"/>
                </a:solidFill>
                <a:latin typeface="Arial"/>
                <a:ea typeface="Arial"/>
                <a:cs typeface="Arial"/>
              </a:defRPr>
            </a:lvl6pPr>
            <a:lvl7pPr>
              <a:defRPr sz="1875" b="0">
                <a:solidFill>
                  <a:srgbClr val="253748"/>
                </a:solidFill>
                <a:latin typeface="Arial"/>
                <a:ea typeface="Arial"/>
                <a:cs typeface="Arial"/>
              </a:defRPr>
            </a:lvl7pPr>
            <a:lvl8pPr>
              <a:defRPr sz="1875" b="0">
                <a:solidFill>
                  <a:srgbClr val="253748"/>
                </a:solidFill>
                <a:latin typeface="Arial"/>
                <a:ea typeface="Arial"/>
                <a:cs typeface="Arial"/>
              </a:defRPr>
            </a:lvl8pPr>
            <a:lvl9pPr>
              <a:defRPr sz="1875" b="0">
                <a:solidFill>
                  <a:srgbClr val="253748"/>
                </a:solidFill>
                <a:latin typeface="Arial"/>
                <a:ea typeface="Arial"/>
                <a:cs typeface="Arial"/>
              </a:defRPr>
            </a:lvl9pPr>
          </a:lstStyle>
          <a:p xmlns:a="http://schemas.openxmlformats.org/drawingml/2006/main">
            <a:pPr>
              <a:defRPr sz="1875" b="0">
                <a:solidFill>
                  <a:srgbClr val="253748"/>
                </a:solidFill>
                <a:latin typeface="Arial"/>
                <a:ea typeface="Arial"/>
                <a:cs typeface="Arial"/>
              </a:defRPr>
            </a:pPr>
            <a:r>
              <a:rPr sz="1875" b="0">
                <a:solidFill>
                  <a:srgbClr val="253748"/>
                </a:solidFill>
                <a:latin typeface="Arial"/>
                <a:ea typeface="Arial"/>
                <a:cs typeface="Arial"/>
              </a:rPr>
              <a:t>Versión productiva, población y accesos controlados.</a:t>
            </a:r>
          </a:p>
        </p:txBody>
      </p:sp>
      <p:sp>
        <p:nvSpPr>
          <p:cNvPr id="8" name="">
            <a:extLst xmlns:a="http://schemas.openxmlformats.org/drawingml/2006/main">
              <a:ext uri="{FF2B5EF4-FFF2-40B4-BE49-F238E27FC236}">
                <a16:creationId xmlns:a16="http://schemas.microsoft.com/office/drawing/2014/main" id="{BBC57747-B050-4906-9344-35387694B0C3}"/>
              </a:ext>
            </a:extLst>
          </p:cNvPr>
          <p:cNvSpPr>
            <a:spLocks xmlns:a="http://schemas.openxmlformats.org/drawingml/2006/main" noGrp="1"/>
          </p:cNvSpPr>
          <p:nvPr/>
        </p:nvSpPr>
        <p:spPr>
          <a:xfrm xmlns:a="http://schemas.openxmlformats.org/drawingml/2006/main">
            <a:off x="3409950" y="1962150"/>
            <a:ext cx="2381250" cy="38100"/>
          </a:xfrm>
          <a:prstGeom xmlns:a="http://schemas.openxmlformats.org/drawingml/2006/main" prst="rect">
            <a:avLst/>
          </a:prstGeom>
          <a:solidFill xmlns:a="http://schemas.openxmlformats.org/drawingml/2006/main">
            <a:srgbClr val="26678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600368B-9FDE-4D91-BF5D-6438673DC9C4}"/>
              </a:ext>
            </a:extLst>
          </p:cNvPr>
          <p:cNvSpPr>
            <a:spLocks xmlns:a="http://schemas.openxmlformats.org/drawingml/2006/main" noGrp="1"/>
          </p:cNvSpPr>
          <p:nvPr/>
        </p:nvSpPr>
        <p:spPr>
          <a:xfrm xmlns:a="http://schemas.openxmlformats.org/drawingml/2006/main">
            <a:off x="3409950" y="2190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6678D"/>
                </a:solidFill>
                <a:latin typeface="Arial"/>
                <a:ea typeface="Arial"/>
                <a:cs typeface="Arial"/>
              </a:defRPr>
            </a:defPPr>
            <a:lvl1pPr>
              <a:defRPr sz="3450" b="1">
                <a:solidFill>
                  <a:srgbClr val="26678D"/>
                </a:solidFill>
                <a:latin typeface="Arial"/>
                <a:ea typeface="Arial"/>
                <a:cs typeface="Arial"/>
              </a:defRPr>
            </a:lvl1pPr>
            <a:lvl2pPr>
              <a:defRPr sz="3450" b="1">
                <a:solidFill>
                  <a:srgbClr val="26678D"/>
                </a:solidFill>
                <a:latin typeface="Arial"/>
                <a:ea typeface="Arial"/>
                <a:cs typeface="Arial"/>
              </a:defRPr>
            </a:lvl2pPr>
            <a:lvl3pPr>
              <a:defRPr sz="3450" b="1">
                <a:solidFill>
                  <a:srgbClr val="26678D"/>
                </a:solidFill>
                <a:latin typeface="Arial"/>
                <a:ea typeface="Arial"/>
                <a:cs typeface="Arial"/>
              </a:defRPr>
            </a:lvl3pPr>
            <a:lvl4pPr>
              <a:defRPr sz="3450" b="1">
                <a:solidFill>
                  <a:srgbClr val="26678D"/>
                </a:solidFill>
                <a:latin typeface="Arial"/>
                <a:ea typeface="Arial"/>
                <a:cs typeface="Arial"/>
              </a:defRPr>
            </a:lvl4pPr>
            <a:lvl5pPr>
              <a:defRPr sz="3450" b="1">
                <a:solidFill>
                  <a:srgbClr val="26678D"/>
                </a:solidFill>
                <a:latin typeface="Arial"/>
                <a:ea typeface="Arial"/>
                <a:cs typeface="Arial"/>
              </a:defRPr>
            </a:lvl5pPr>
            <a:lvl6pPr>
              <a:defRPr sz="3450" b="1">
                <a:solidFill>
                  <a:srgbClr val="26678D"/>
                </a:solidFill>
                <a:latin typeface="Arial"/>
                <a:ea typeface="Arial"/>
                <a:cs typeface="Arial"/>
              </a:defRPr>
            </a:lvl6pPr>
            <a:lvl7pPr>
              <a:defRPr sz="3450" b="1">
                <a:solidFill>
                  <a:srgbClr val="26678D"/>
                </a:solidFill>
                <a:latin typeface="Arial"/>
                <a:ea typeface="Arial"/>
                <a:cs typeface="Arial"/>
              </a:defRPr>
            </a:lvl7pPr>
            <a:lvl8pPr>
              <a:defRPr sz="3450" b="1">
                <a:solidFill>
                  <a:srgbClr val="26678D"/>
                </a:solidFill>
                <a:latin typeface="Arial"/>
                <a:ea typeface="Arial"/>
                <a:cs typeface="Arial"/>
              </a:defRPr>
            </a:lvl8pPr>
            <a:lvl9pPr>
              <a:defRPr sz="3450" b="1">
                <a:solidFill>
                  <a:srgbClr val="26678D"/>
                </a:solidFill>
                <a:latin typeface="Arial"/>
                <a:ea typeface="Arial"/>
                <a:cs typeface="Arial"/>
              </a:defRPr>
            </a:lvl9pPr>
          </a:lstStyle>
          <a:p xmlns:a="http://schemas.openxmlformats.org/drawingml/2006/main">
            <a:pPr>
              <a:defRPr sz="3450" b="1">
                <a:solidFill>
                  <a:srgbClr val="26678D"/>
                </a:solidFill>
                <a:latin typeface="Arial"/>
                <a:ea typeface="Arial"/>
                <a:cs typeface="Arial"/>
              </a:defRPr>
            </a:pPr>
            <a:r>
              <a:rPr sz="3450" b="1">
                <a:solidFill>
                  <a:srgbClr val="26678D"/>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FC010B05-629A-4838-B86E-B5759177A7AF}"/>
              </a:ext>
            </a:extLst>
          </p:cNvPr>
          <p:cNvSpPr>
            <a:spLocks xmlns:a="http://schemas.openxmlformats.org/drawingml/2006/main" noGrp="1"/>
          </p:cNvSpPr>
          <p:nvPr/>
        </p:nvSpPr>
        <p:spPr>
          <a:xfrm xmlns:a="http://schemas.openxmlformats.org/drawingml/2006/main">
            <a:off x="3409950" y="2876550"/>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9334C"/>
                </a:solidFill>
                <a:latin typeface="Arial"/>
                <a:ea typeface="Arial"/>
                <a:cs typeface="Arial"/>
              </a:defRPr>
            </a:defPPr>
            <a:lvl1pPr>
              <a:defRPr sz="2175" b="1">
                <a:solidFill>
                  <a:srgbClr val="19334C"/>
                </a:solidFill>
                <a:latin typeface="Arial"/>
                <a:ea typeface="Arial"/>
                <a:cs typeface="Arial"/>
              </a:defRPr>
            </a:lvl1pPr>
            <a:lvl2pPr>
              <a:defRPr sz="2175" b="1">
                <a:solidFill>
                  <a:srgbClr val="19334C"/>
                </a:solidFill>
                <a:latin typeface="Arial"/>
                <a:ea typeface="Arial"/>
                <a:cs typeface="Arial"/>
              </a:defRPr>
            </a:lvl2pPr>
            <a:lvl3pPr>
              <a:defRPr sz="2175" b="1">
                <a:solidFill>
                  <a:srgbClr val="19334C"/>
                </a:solidFill>
                <a:latin typeface="Arial"/>
                <a:ea typeface="Arial"/>
                <a:cs typeface="Arial"/>
              </a:defRPr>
            </a:lvl3pPr>
            <a:lvl4pPr>
              <a:defRPr sz="2175" b="1">
                <a:solidFill>
                  <a:srgbClr val="19334C"/>
                </a:solidFill>
                <a:latin typeface="Arial"/>
                <a:ea typeface="Arial"/>
                <a:cs typeface="Arial"/>
              </a:defRPr>
            </a:lvl4pPr>
            <a:lvl5pPr>
              <a:defRPr sz="2175" b="1">
                <a:solidFill>
                  <a:srgbClr val="19334C"/>
                </a:solidFill>
                <a:latin typeface="Arial"/>
                <a:ea typeface="Arial"/>
                <a:cs typeface="Arial"/>
              </a:defRPr>
            </a:lvl5pPr>
            <a:lvl6pPr>
              <a:defRPr sz="2175" b="1">
                <a:solidFill>
                  <a:srgbClr val="19334C"/>
                </a:solidFill>
                <a:latin typeface="Arial"/>
                <a:ea typeface="Arial"/>
                <a:cs typeface="Arial"/>
              </a:defRPr>
            </a:lvl6pPr>
            <a:lvl7pPr>
              <a:defRPr sz="2175" b="1">
                <a:solidFill>
                  <a:srgbClr val="19334C"/>
                </a:solidFill>
                <a:latin typeface="Arial"/>
                <a:ea typeface="Arial"/>
                <a:cs typeface="Arial"/>
              </a:defRPr>
            </a:lvl7pPr>
            <a:lvl8pPr>
              <a:defRPr sz="2175" b="1">
                <a:solidFill>
                  <a:srgbClr val="19334C"/>
                </a:solidFill>
                <a:latin typeface="Arial"/>
                <a:ea typeface="Arial"/>
                <a:cs typeface="Arial"/>
              </a:defRPr>
            </a:lvl8pPr>
            <a:lvl9pPr>
              <a:defRPr sz="2175" b="1">
                <a:solidFill>
                  <a:srgbClr val="19334C"/>
                </a:solidFill>
                <a:latin typeface="Arial"/>
                <a:ea typeface="Arial"/>
                <a:cs typeface="Arial"/>
              </a:defRPr>
            </a:lvl9pPr>
          </a:lstStyle>
          <a:p xmlns:a="http://schemas.openxmlformats.org/drawingml/2006/main">
            <a:pPr>
              <a:defRPr sz="2175" b="1">
                <a:solidFill>
                  <a:srgbClr val="19334C"/>
                </a:solidFill>
                <a:latin typeface="Arial"/>
                <a:ea typeface="Arial"/>
                <a:cs typeface="Arial"/>
              </a:defRPr>
            </a:pPr>
            <a:r>
              <a:rPr sz="2175" b="1">
                <a:solidFill>
                  <a:srgbClr val="19334C"/>
                </a:solidFill>
                <a:latin typeface="Arial"/>
                <a:ea typeface="Arial"/>
                <a:cs typeface="Arial"/>
              </a:rPr>
              <a:t>Smoke del flujo</a:t>
            </a:r>
          </a:p>
        </p:txBody>
      </p:sp>
      <p:sp>
        <p:nvSpPr>
          <p:cNvPr id="11" name="">
            <a:extLst xmlns:a="http://schemas.openxmlformats.org/drawingml/2006/main">
              <a:ext uri="{FF2B5EF4-FFF2-40B4-BE49-F238E27FC236}">
                <a16:creationId xmlns:a16="http://schemas.microsoft.com/office/drawing/2014/main" id="{8737C1F9-E55A-4846-9CD7-C23F77D68B69}"/>
              </a:ext>
            </a:extLst>
          </p:cNvPr>
          <p:cNvSpPr>
            <a:spLocks xmlns:a="http://schemas.openxmlformats.org/drawingml/2006/main" noGrp="1"/>
          </p:cNvSpPr>
          <p:nvPr/>
        </p:nvSpPr>
        <p:spPr>
          <a:xfrm xmlns:a="http://schemas.openxmlformats.org/drawingml/2006/main">
            <a:off x="3409950" y="3829050"/>
            <a:ext cx="24193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53748"/>
                </a:solidFill>
                <a:latin typeface="Arial"/>
                <a:ea typeface="Arial"/>
                <a:cs typeface="Arial"/>
              </a:defRPr>
            </a:defPPr>
            <a:lvl1pPr>
              <a:defRPr sz="1875" b="0">
                <a:solidFill>
                  <a:srgbClr val="253748"/>
                </a:solidFill>
                <a:latin typeface="Arial"/>
                <a:ea typeface="Arial"/>
                <a:cs typeface="Arial"/>
              </a:defRPr>
            </a:lvl1pPr>
            <a:lvl2pPr>
              <a:defRPr sz="1875" b="0">
                <a:solidFill>
                  <a:srgbClr val="253748"/>
                </a:solidFill>
                <a:latin typeface="Arial"/>
                <a:ea typeface="Arial"/>
                <a:cs typeface="Arial"/>
              </a:defRPr>
            </a:lvl2pPr>
            <a:lvl3pPr>
              <a:defRPr sz="1875" b="0">
                <a:solidFill>
                  <a:srgbClr val="253748"/>
                </a:solidFill>
                <a:latin typeface="Arial"/>
                <a:ea typeface="Arial"/>
                <a:cs typeface="Arial"/>
              </a:defRPr>
            </a:lvl3pPr>
            <a:lvl4pPr>
              <a:defRPr sz="1875" b="0">
                <a:solidFill>
                  <a:srgbClr val="253748"/>
                </a:solidFill>
                <a:latin typeface="Arial"/>
                <a:ea typeface="Arial"/>
                <a:cs typeface="Arial"/>
              </a:defRPr>
            </a:lvl4pPr>
            <a:lvl5pPr>
              <a:defRPr sz="1875" b="0">
                <a:solidFill>
                  <a:srgbClr val="253748"/>
                </a:solidFill>
                <a:latin typeface="Arial"/>
                <a:ea typeface="Arial"/>
                <a:cs typeface="Arial"/>
              </a:defRPr>
            </a:lvl5pPr>
            <a:lvl6pPr>
              <a:defRPr sz="1875" b="0">
                <a:solidFill>
                  <a:srgbClr val="253748"/>
                </a:solidFill>
                <a:latin typeface="Arial"/>
                <a:ea typeface="Arial"/>
                <a:cs typeface="Arial"/>
              </a:defRPr>
            </a:lvl6pPr>
            <a:lvl7pPr>
              <a:defRPr sz="1875" b="0">
                <a:solidFill>
                  <a:srgbClr val="253748"/>
                </a:solidFill>
                <a:latin typeface="Arial"/>
                <a:ea typeface="Arial"/>
                <a:cs typeface="Arial"/>
              </a:defRPr>
            </a:lvl7pPr>
            <a:lvl8pPr>
              <a:defRPr sz="1875" b="0">
                <a:solidFill>
                  <a:srgbClr val="253748"/>
                </a:solidFill>
                <a:latin typeface="Arial"/>
                <a:ea typeface="Arial"/>
                <a:cs typeface="Arial"/>
              </a:defRPr>
            </a:lvl8pPr>
            <a:lvl9pPr>
              <a:defRPr sz="1875" b="0">
                <a:solidFill>
                  <a:srgbClr val="253748"/>
                </a:solidFill>
                <a:latin typeface="Arial"/>
                <a:ea typeface="Arial"/>
                <a:cs typeface="Arial"/>
              </a:defRPr>
            </a:lvl9pPr>
          </a:lstStyle>
          <a:p xmlns:a="http://schemas.openxmlformats.org/drawingml/2006/main">
            <a:pPr>
              <a:defRPr sz="1875" b="0">
                <a:solidFill>
                  <a:srgbClr val="253748"/>
                </a:solidFill>
                <a:latin typeface="Arial"/>
                <a:ea typeface="Arial"/>
                <a:cs typeface="Arial"/>
              </a:defRPr>
            </a:pPr>
            <a:r>
              <a:rPr sz="1875" b="0">
                <a:solidFill>
                  <a:srgbClr val="253748"/>
                </a:solidFill>
                <a:latin typeface="Arial"/>
                <a:ea typeface="Arial"/>
                <a:cs typeface="Arial"/>
              </a:rPr>
              <a:t>El recorrido mínimo funciona y deja trazabilidad.</a:t>
            </a:r>
          </a:p>
        </p:txBody>
      </p:sp>
      <p:sp>
        <p:nvSpPr>
          <p:cNvPr id="12" name="">
            <a:extLst xmlns:a="http://schemas.openxmlformats.org/drawingml/2006/main">
              <a:ext uri="{FF2B5EF4-FFF2-40B4-BE49-F238E27FC236}">
                <a16:creationId xmlns:a16="http://schemas.microsoft.com/office/drawing/2014/main" id="{E9FD2D1C-72B0-4B56-8F95-651BB24BBA28}"/>
              </a:ext>
            </a:extLst>
          </p:cNvPr>
          <p:cNvSpPr>
            <a:spLocks xmlns:a="http://schemas.openxmlformats.org/drawingml/2006/main" noGrp="1"/>
          </p:cNvSpPr>
          <p:nvPr/>
        </p:nvSpPr>
        <p:spPr>
          <a:xfrm xmlns:a="http://schemas.openxmlformats.org/drawingml/2006/main">
            <a:off x="6210300" y="1962150"/>
            <a:ext cx="2381250" cy="38100"/>
          </a:xfrm>
          <a:prstGeom xmlns:a="http://schemas.openxmlformats.org/drawingml/2006/main" prst="rect">
            <a:avLst/>
          </a:prstGeom>
          <a:solidFill xmlns:a="http://schemas.openxmlformats.org/drawingml/2006/main">
            <a:srgbClr val="26678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AC5DD55-DCA7-49A2-8EDF-6FD8199470F3}"/>
              </a:ext>
            </a:extLst>
          </p:cNvPr>
          <p:cNvSpPr>
            <a:spLocks xmlns:a="http://schemas.openxmlformats.org/drawingml/2006/main" noGrp="1"/>
          </p:cNvSpPr>
          <p:nvPr/>
        </p:nvSpPr>
        <p:spPr>
          <a:xfrm xmlns:a="http://schemas.openxmlformats.org/drawingml/2006/main">
            <a:off x="6210300" y="2190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6678D"/>
                </a:solidFill>
                <a:latin typeface="Arial"/>
                <a:ea typeface="Arial"/>
                <a:cs typeface="Arial"/>
              </a:defRPr>
            </a:defPPr>
            <a:lvl1pPr>
              <a:defRPr sz="3450" b="1">
                <a:solidFill>
                  <a:srgbClr val="26678D"/>
                </a:solidFill>
                <a:latin typeface="Arial"/>
                <a:ea typeface="Arial"/>
                <a:cs typeface="Arial"/>
              </a:defRPr>
            </a:lvl1pPr>
            <a:lvl2pPr>
              <a:defRPr sz="3450" b="1">
                <a:solidFill>
                  <a:srgbClr val="26678D"/>
                </a:solidFill>
                <a:latin typeface="Arial"/>
                <a:ea typeface="Arial"/>
                <a:cs typeface="Arial"/>
              </a:defRPr>
            </a:lvl2pPr>
            <a:lvl3pPr>
              <a:defRPr sz="3450" b="1">
                <a:solidFill>
                  <a:srgbClr val="26678D"/>
                </a:solidFill>
                <a:latin typeface="Arial"/>
                <a:ea typeface="Arial"/>
                <a:cs typeface="Arial"/>
              </a:defRPr>
            </a:lvl3pPr>
            <a:lvl4pPr>
              <a:defRPr sz="3450" b="1">
                <a:solidFill>
                  <a:srgbClr val="26678D"/>
                </a:solidFill>
                <a:latin typeface="Arial"/>
                <a:ea typeface="Arial"/>
                <a:cs typeface="Arial"/>
              </a:defRPr>
            </a:lvl4pPr>
            <a:lvl5pPr>
              <a:defRPr sz="3450" b="1">
                <a:solidFill>
                  <a:srgbClr val="26678D"/>
                </a:solidFill>
                <a:latin typeface="Arial"/>
                <a:ea typeface="Arial"/>
                <a:cs typeface="Arial"/>
              </a:defRPr>
            </a:lvl5pPr>
            <a:lvl6pPr>
              <a:defRPr sz="3450" b="1">
                <a:solidFill>
                  <a:srgbClr val="26678D"/>
                </a:solidFill>
                <a:latin typeface="Arial"/>
                <a:ea typeface="Arial"/>
                <a:cs typeface="Arial"/>
              </a:defRPr>
            </a:lvl6pPr>
            <a:lvl7pPr>
              <a:defRPr sz="3450" b="1">
                <a:solidFill>
                  <a:srgbClr val="26678D"/>
                </a:solidFill>
                <a:latin typeface="Arial"/>
                <a:ea typeface="Arial"/>
                <a:cs typeface="Arial"/>
              </a:defRPr>
            </a:lvl7pPr>
            <a:lvl8pPr>
              <a:defRPr sz="3450" b="1">
                <a:solidFill>
                  <a:srgbClr val="26678D"/>
                </a:solidFill>
                <a:latin typeface="Arial"/>
                <a:ea typeface="Arial"/>
                <a:cs typeface="Arial"/>
              </a:defRPr>
            </a:lvl8pPr>
            <a:lvl9pPr>
              <a:defRPr sz="3450" b="1">
                <a:solidFill>
                  <a:srgbClr val="26678D"/>
                </a:solidFill>
                <a:latin typeface="Arial"/>
                <a:ea typeface="Arial"/>
                <a:cs typeface="Arial"/>
              </a:defRPr>
            </a:lvl9pPr>
          </a:lstStyle>
          <a:p xmlns:a="http://schemas.openxmlformats.org/drawingml/2006/main">
            <a:pPr>
              <a:defRPr sz="3450" b="1">
                <a:solidFill>
                  <a:srgbClr val="26678D"/>
                </a:solidFill>
                <a:latin typeface="Arial"/>
                <a:ea typeface="Arial"/>
                <a:cs typeface="Arial"/>
              </a:defRPr>
            </a:pPr>
            <a:r>
              <a:rPr sz="3450" b="1">
                <a:solidFill>
                  <a:srgbClr val="26678D"/>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5508FD11-FCE1-45F0-9E5B-770F35F19564}"/>
              </a:ext>
            </a:extLst>
          </p:cNvPr>
          <p:cNvSpPr>
            <a:spLocks xmlns:a="http://schemas.openxmlformats.org/drawingml/2006/main" noGrp="1"/>
          </p:cNvSpPr>
          <p:nvPr/>
        </p:nvSpPr>
        <p:spPr>
          <a:xfrm xmlns:a="http://schemas.openxmlformats.org/drawingml/2006/main">
            <a:off x="6210300" y="2876550"/>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9334C"/>
                </a:solidFill>
                <a:latin typeface="Arial"/>
                <a:ea typeface="Arial"/>
                <a:cs typeface="Arial"/>
              </a:defRPr>
            </a:defPPr>
            <a:lvl1pPr>
              <a:defRPr sz="2175" b="1">
                <a:solidFill>
                  <a:srgbClr val="19334C"/>
                </a:solidFill>
                <a:latin typeface="Arial"/>
                <a:ea typeface="Arial"/>
                <a:cs typeface="Arial"/>
              </a:defRPr>
            </a:lvl1pPr>
            <a:lvl2pPr>
              <a:defRPr sz="2175" b="1">
                <a:solidFill>
                  <a:srgbClr val="19334C"/>
                </a:solidFill>
                <a:latin typeface="Arial"/>
                <a:ea typeface="Arial"/>
                <a:cs typeface="Arial"/>
              </a:defRPr>
            </a:lvl2pPr>
            <a:lvl3pPr>
              <a:defRPr sz="2175" b="1">
                <a:solidFill>
                  <a:srgbClr val="19334C"/>
                </a:solidFill>
                <a:latin typeface="Arial"/>
                <a:ea typeface="Arial"/>
                <a:cs typeface="Arial"/>
              </a:defRPr>
            </a:lvl3pPr>
            <a:lvl4pPr>
              <a:defRPr sz="2175" b="1">
                <a:solidFill>
                  <a:srgbClr val="19334C"/>
                </a:solidFill>
                <a:latin typeface="Arial"/>
                <a:ea typeface="Arial"/>
                <a:cs typeface="Arial"/>
              </a:defRPr>
            </a:lvl4pPr>
            <a:lvl5pPr>
              <a:defRPr sz="2175" b="1">
                <a:solidFill>
                  <a:srgbClr val="19334C"/>
                </a:solidFill>
                <a:latin typeface="Arial"/>
                <a:ea typeface="Arial"/>
                <a:cs typeface="Arial"/>
              </a:defRPr>
            </a:lvl5pPr>
            <a:lvl6pPr>
              <a:defRPr sz="2175" b="1">
                <a:solidFill>
                  <a:srgbClr val="19334C"/>
                </a:solidFill>
                <a:latin typeface="Arial"/>
                <a:ea typeface="Arial"/>
                <a:cs typeface="Arial"/>
              </a:defRPr>
            </a:lvl6pPr>
            <a:lvl7pPr>
              <a:defRPr sz="2175" b="1">
                <a:solidFill>
                  <a:srgbClr val="19334C"/>
                </a:solidFill>
                <a:latin typeface="Arial"/>
                <a:ea typeface="Arial"/>
                <a:cs typeface="Arial"/>
              </a:defRPr>
            </a:lvl7pPr>
            <a:lvl8pPr>
              <a:defRPr sz="2175" b="1">
                <a:solidFill>
                  <a:srgbClr val="19334C"/>
                </a:solidFill>
                <a:latin typeface="Arial"/>
                <a:ea typeface="Arial"/>
                <a:cs typeface="Arial"/>
              </a:defRPr>
            </a:lvl8pPr>
            <a:lvl9pPr>
              <a:defRPr sz="2175" b="1">
                <a:solidFill>
                  <a:srgbClr val="19334C"/>
                </a:solidFill>
                <a:latin typeface="Arial"/>
                <a:ea typeface="Arial"/>
                <a:cs typeface="Arial"/>
              </a:defRPr>
            </a:lvl9pPr>
          </a:lstStyle>
          <a:p xmlns:a="http://schemas.openxmlformats.org/drawingml/2006/main">
            <a:pPr>
              <a:defRPr sz="2175" b="1">
                <a:solidFill>
                  <a:srgbClr val="19334C"/>
                </a:solidFill>
                <a:latin typeface="Arial"/>
                <a:ea typeface="Arial"/>
                <a:cs typeface="Arial"/>
              </a:defRPr>
            </a:pPr>
            <a:r>
              <a:rPr sz="2175" b="1">
                <a:solidFill>
                  <a:srgbClr val="19334C"/>
                </a:solidFill>
                <a:latin typeface="Arial"/>
                <a:ea typeface="Arial"/>
                <a:cs typeface="Arial"/>
              </a:rPr>
              <a:t>Paralelo</a:t>
            </a:r>
          </a:p>
        </p:txBody>
      </p:sp>
      <p:sp>
        <p:nvSpPr>
          <p:cNvPr id="15" name="">
            <a:extLst xmlns:a="http://schemas.openxmlformats.org/drawingml/2006/main">
              <a:ext uri="{FF2B5EF4-FFF2-40B4-BE49-F238E27FC236}">
                <a16:creationId xmlns:a16="http://schemas.microsoft.com/office/drawing/2014/main" id="{96F7D318-00EA-4F6F-B3C0-216D409E5029}"/>
              </a:ext>
            </a:extLst>
          </p:cNvPr>
          <p:cNvSpPr>
            <a:spLocks xmlns:a="http://schemas.openxmlformats.org/drawingml/2006/main" noGrp="1"/>
          </p:cNvSpPr>
          <p:nvPr/>
        </p:nvSpPr>
        <p:spPr>
          <a:xfrm xmlns:a="http://schemas.openxmlformats.org/drawingml/2006/main">
            <a:off x="6210300" y="3829050"/>
            <a:ext cx="24193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53748"/>
                </a:solidFill>
                <a:latin typeface="Arial"/>
                <a:ea typeface="Arial"/>
                <a:cs typeface="Arial"/>
              </a:defRPr>
            </a:defPPr>
            <a:lvl1pPr>
              <a:defRPr sz="1875" b="0">
                <a:solidFill>
                  <a:srgbClr val="253748"/>
                </a:solidFill>
                <a:latin typeface="Arial"/>
                <a:ea typeface="Arial"/>
                <a:cs typeface="Arial"/>
              </a:defRPr>
            </a:lvl1pPr>
            <a:lvl2pPr>
              <a:defRPr sz="1875" b="0">
                <a:solidFill>
                  <a:srgbClr val="253748"/>
                </a:solidFill>
                <a:latin typeface="Arial"/>
                <a:ea typeface="Arial"/>
                <a:cs typeface="Arial"/>
              </a:defRPr>
            </a:lvl2pPr>
            <a:lvl3pPr>
              <a:defRPr sz="1875" b="0">
                <a:solidFill>
                  <a:srgbClr val="253748"/>
                </a:solidFill>
                <a:latin typeface="Arial"/>
                <a:ea typeface="Arial"/>
                <a:cs typeface="Arial"/>
              </a:defRPr>
            </a:lvl3pPr>
            <a:lvl4pPr>
              <a:defRPr sz="1875" b="0">
                <a:solidFill>
                  <a:srgbClr val="253748"/>
                </a:solidFill>
                <a:latin typeface="Arial"/>
                <a:ea typeface="Arial"/>
                <a:cs typeface="Arial"/>
              </a:defRPr>
            </a:lvl4pPr>
            <a:lvl5pPr>
              <a:defRPr sz="1875" b="0">
                <a:solidFill>
                  <a:srgbClr val="253748"/>
                </a:solidFill>
                <a:latin typeface="Arial"/>
                <a:ea typeface="Arial"/>
                <a:cs typeface="Arial"/>
              </a:defRPr>
            </a:lvl5pPr>
            <a:lvl6pPr>
              <a:defRPr sz="1875" b="0">
                <a:solidFill>
                  <a:srgbClr val="253748"/>
                </a:solidFill>
                <a:latin typeface="Arial"/>
                <a:ea typeface="Arial"/>
                <a:cs typeface="Arial"/>
              </a:defRPr>
            </a:lvl6pPr>
            <a:lvl7pPr>
              <a:defRPr sz="1875" b="0">
                <a:solidFill>
                  <a:srgbClr val="253748"/>
                </a:solidFill>
                <a:latin typeface="Arial"/>
                <a:ea typeface="Arial"/>
                <a:cs typeface="Arial"/>
              </a:defRPr>
            </a:lvl7pPr>
            <a:lvl8pPr>
              <a:defRPr sz="1875" b="0">
                <a:solidFill>
                  <a:srgbClr val="253748"/>
                </a:solidFill>
                <a:latin typeface="Arial"/>
                <a:ea typeface="Arial"/>
                <a:cs typeface="Arial"/>
              </a:defRPr>
            </a:lvl8pPr>
            <a:lvl9pPr>
              <a:defRPr sz="1875" b="0">
                <a:solidFill>
                  <a:srgbClr val="253748"/>
                </a:solidFill>
                <a:latin typeface="Arial"/>
                <a:ea typeface="Arial"/>
                <a:cs typeface="Arial"/>
              </a:defRPr>
            </a:lvl9pPr>
          </a:lstStyle>
          <a:p xmlns:a="http://schemas.openxmlformats.org/drawingml/2006/main">
            <a:pPr>
              <a:defRPr sz="1875" b="0">
                <a:solidFill>
                  <a:srgbClr val="253748"/>
                </a:solidFill>
                <a:latin typeface="Arial"/>
                <a:ea typeface="Arial"/>
                <a:cs typeface="Arial"/>
              </a:defRPr>
            </a:pPr>
            <a:r>
              <a:rPr sz="1875" b="0">
                <a:solidFill>
                  <a:srgbClr val="253748"/>
                </a:solidFill>
                <a:latin typeface="Arial"/>
                <a:ea typeface="Arial"/>
                <a:cs typeface="Arial"/>
              </a:rPr>
              <a:t>Comparación con DIARCO/SGM durante los ciclos acordados.</a:t>
            </a:r>
          </a:p>
        </p:txBody>
      </p:sp>
      <p:sp>
        <p:nvSpPr>
          <p:cNvPr id="16" name="">
            <a:extLst xmlns:a="http://schemas.openxmlformats.org/drawingml/2006/main">
              <a:ext uri="{FF2B5EF4-FFF2-40B4-BE49-F238E27FC236}">
                <a16:creationId xmlns:a16="http://schemas.microsoft.com/office/drawing/2014/main" id="{650D8F3E-D4E5-4454-A34A-C177A0F2B505}"/>
              </a:ext>
            </a:extLst>
          </p:cNvPr>
          <p:cNvSpPr>
            <a:spLocks xmlns:a="http://schemas.openxmlformats.org/drawingml/2006/main" noGrp="1"/>
          </p:cNvSpPr>
          <p:nvPr/>
        </p:nvSpPr>
        <p:spPr>
          <a:xfrm xmlns:a="http://schemas.openxmlformats.org/drawingml/2006/main">
            <a:off x="9010650" y="1962150"/>
            <a:ext cx="2381250" cy="38100"/>
          </a:xfrm>
          <a:prstGeom xmlns:a="http://schemas.openxmlformats.org/drawingml/2006/main" prst="rect">
            <a:avLst/>
          </a:prstGeom>
          <a:solidFill xmlns:a="http://schemas.openxmlformats.org/drawingml/2006/main">
            <a:srgbClr val="26678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403152F-44FF-4ED1-B3B6-DABC6EB82F97}"/>
              </a:ext>
            </a:extLst>
          </p:cNvPr>
          <p:cNvSpPr>
            <a:spLocks xmlns:a="http://schemas.openxmlformats.org/drawingml/2006/main" noGrp="1"/>
          </p:cNvSpPr>
          <p:nvPr/>
        </p:nvSpPr>
        <p:spPr>
          <a:xfrm xmlns:a="http://schemas.openxmlformats.org/drawingml/2006/main">
            <a:off x="9010650" y="2190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6678D"/>
                </a:solidFill>
                <a:latin typeface="Arial"/>
                <a:ea typeface="Arial"/>
                <a:cs typeface="Arial"/>
              </a:defRPr>
            </a:defPPr>
            <a:lvl1pPr>
              <a:defRPr sz="3450" b="1">
                <a:solidFill>
                  <a:srgbClr val="26678D"/>
                </a:solidFill>
                <a:latin typeface="Arial"/>
                <a:ea typeface="Arial"/>
                <a:cs typeface="Arial"/>
              </a:defRPr>
            </a:lvl1pPr>
            <a:lvl2pPr>
              <a:defRPr sz="3450" b="1">
                <a:solidFill>
                  <a:srgbClr val="26678D"/>
                </a:solidFill>
                <a:latin typeface="Arial"/>
                <a:ea typeface="Arial"/>
                <a:cs typeface="Arial"/>
              </a:defRPr>
            </a:lvl2pPr>
            <a:lvl3pPr>
              <a:defRPr sz="3450" b="1">
                <a:solidFill>
                  <a:srgbClr val="26678D"/>
                </a:solidFill>
                <a:latin typeface="Arial"/>
                <a:ea typeface="Arial"/>
                <a:cs typeface="Arial"/>
              </a:defRPr>
            </a:lvl3pPr>
            <a:lvl4pPr>
              <a:defRPr sz="3450" b="1">
                <a:solidFill>
                  <a:srgbClr val="26678D"/>
                </a:solidFill>
                <a:latin typeface="Arial"/>
                <a:ea typeface="Arial"/>
                <a:cs typeface="Arial"/>
              </a:defRPr>
            </a:lvl4pPr>
            <a:lvl5pPr>
              <a:defRPr sz="3450" b="1">
                <a:solidFill>
                  <a:srgbClr val="26678D"/>
                </a:solidFill>
                <a:latin typeface="Arial"/>
                <a:ea typeface="Arial"/>
                <a:cs typeface="Arial"/>
              </a:defRPr>
            </a:lvl5pPr>
            <a:lvl6pPr>
              <a:defRPr sz="3450" b="1">
                <a:solidFill>
                  <a:srgbClr val="26678D"/>
                </a:solidFill>
                <a:latin typeface="Arial"/>
                <a:ea typeface="Arial"/>
                <a:cs typeface="Arial"/>
              </a:defRPr>
            </a:lvl6pPr>
            <a:lvl7pPr>
              <a:defRPr sz="3450" b="1">
                <a:solidFill>
                  <a:srgbClr val="26678D"/>
                </a:solidFill>
                <a:latin typeface="Arial"/>
                <a:ea typeface="Arial"/>
                <a:cs typeface="Arial"/>
              </a:defRPr>
            </a:lvl7pPr>
            <a:lvl8pPr>
              <a:defRPr sz="3450" b="1">
                <a:solidFill>
                  <a:srgbClr val="26678D"/>
                </a:solidFill>
                <a:latin typeface="Arial"/>
                <a:ea typeface="Arial"/>
                <a:cs typeface="Arial"/>
              </a:defRPr>
            </a:lvl8pPr>
            <a:lvl9pPr>
              <a:defRPr sz="3450" b="1">
                <a:solidFill>
                  <a:srgbClr val="26678D"/>
                </a:solidFill>
                <a:latin typeface="Arial"/>
                <a:ea typeface="Arial"/>
                <a:cs typeface="Arial"/>
              </a:defRPr>
            </a:lvl9pPr>
          </a:lstStyle>
          <a:p xmlns:a="http://schemas.openxmlformats.org/drawingml/2006/main">
            <a:pPr>
              <a:defRPr sz="3450" b="1">
                <a:solidFill>
                  <a:srgbClr val="26678D"/>
                </a:solidFill>
                <a:latin typeface="Arial"/>
                <a:ea typeface="Arial"/>
                <a:cs typeface="Arial"/>
              </a:defRPr>
            </a:pPr>
            <a:r>
              <a:rPr sz="3450" b="1">
                <a:solidFill>
                  <a:srgbClr val="26678D"/>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BD1AB78C-F1AE-4B04-B755-924824330A30}"/>
              </a:ext>
            </a:extLst>
          </p:cNvPr>
          <p:cNvSpPr>
            <a:spLocks xmlns:a="http://schemas.openxmlformats.org/drawingml/2006/main" noGrp="1"/>
          </p:cNvSpPr>
          <p:nvPr/>
        </p:nvSpPr>
        <p:spPr>
          <a:xfrm xmlns:a="http://schemas.openxmlformats.org/drawingml/2006/main">
            <a:off x="9010650" y="2876550"/>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9334C"/>
                </a:solidFill>
                <a:latin typeface="Arial"/>
                <a:ea typeface="Arial"/>
                <a:cs typeface="Arial"/>
              </a:defRPr>
            </a:defPPr>
            <a:lvl1pPr>
              <a:defRPr sz="2175" b="1">
                <a:solidFill>
                  <a:srgbClr val="19334C"/>
                </a:solidFill>
                <a:latin typeface="Arial"/>
                <a:ea typeface="Arial"/>
                <a:cs typeface="Arial"/>
              </a:defRPr>
            </a:lvl1pPr>
            <a:lvl2pPr>
              <a:defRPr sz="2175" b="1">
                <a:solidFill>
                  <a:srgbClr val="19334C"/>
                </a:solidFill>
                <a:latin typeface="Arial"/>
                <a:ea typeface="Arial"/>
                <a:cs typeface="Arial"/>
              </a:defRPr>
            </a:lvl2pPr>
            <a:lvl3pPr>
              <a:defRPr sz="2175" b="1">
                <a:solidFill>
                  <a:srgbClr val="19334C"/>
                </a:solidFill>
                <a:latin typeface="Arial"/>
                <a:ea typeface="Arial"/>
                <a:cs typeface="Arial"/>
              </a:defRPr>
            </a:lvl3pPr>
            <a:lvl4pPr>
              <a:defRPr sz="2175" b="1">
                <a:solidFill>
                  <a:srgbClr val="19334C"/>
                </a:solidFill>
                <a:latin typeface="Arial"/>
                <a:ea typeface="Arial"/>
                <a:cs typeface="Arial"/>
              </a:defRPr>
            </a:lvl4pPr>
            <a:lvl5pPr>
              <a:defRPr sz="2175" b="1">
                <a:solidFill>
                  <a:srgbClr val="19334C"/>
                </a:solidFill>
                <a:latin typeface="Arial"/>
                <a:ea typeface="Arial"/>
                <a:cs typeface="Arial"/>
              </a:defRPr>
            </a:lvl5pPr>
            <a:lvl6pPr>
              <a:defRPr sz="2175" b="1">
                <a:solidFill>
                  <a:srgbClr val="19334C"/>
                </a:solidFill>
                <a:latin typeface="Arial"/>
                <a:ea typeface="Arial"/>
                <a:cs typeface="Arial"/>
              </a:defRPr>
            </a:lvl6pPr>
            <a:lvl7pPr>
              <a:defRPr sz="2175" b="1">
                <a:solidFill>
                  <a:srgbClr val="19334C"/>
                </a:solidFill>
                <a:latin typeface="Arial"/>
                <a:ea typeface="Arial"/>
                <a:cs typeface="Arial"/>
              </a:defRPr>
            </a:lvl7pPr>
            <a:lvl8pPr>
              <a:defRPr sz="2175" b="1">
                <a:solidFill>
                  <a:srgbClr val="19334C"/>
                </a:solidFill>
                <a:latin typeface="Arial"/>
                <a:ea typeface="Arial"/>
                <a:cs typeface="Arial"/>
              </a:defRPr>
            </a:lvl8pPr>
            <a:lvl9pPr>
              <a:defRPr sz="2175" b="1">
                <a:solidFill>
                  <a:srgbClr val="19334C"/>
                </a:solidFill>
                <a:latin typeface="Arial"/>
                <a:ea typeface="Arial"/>
                <a:cs typeface="Arial"/>
              </a:defRPr>
            </a:lvl9pPr>
          </a:lstStyle>
          <a:p xmlns:a="http://schemas.openxmlformats.org/drawingml/2006/main">
            <a:pPr>
              <a:defRPr sz="2175" b="1">
                <a:solidFill>
                  <a:srgbClr val="19334C"/>
                </a:solidFill>
                <a:latin typeface="Arial"/>
                <a:ea typeface="Arial"/>
                <a:cs typeface="Arial"/>
              </a:defRPr>
            </a:pPr>
            <a:r>
              <a:rPr sz="2175" b="1">
                <a:solidFill>
                  <a:srgbClr val="19334C"/>
                </a:solidFill>
                <a:latin typeface="Arial"/>
                <a:ea typeface="Arial"/>
                <a:cs typeface="Arial"/>
              </a:rPr>
              <a:t>Aceptación</a:t>
            </a:r>
          </a:p>
        </p:txBody>
      </p:sp>
      <p:sp>
        <p:nvSpPr>
          <p:cNvPr id="19" name="">
            <a:extLst xmlns:a="http://schemas.openxmlformats.org/drawingml/2006/main">
              <a:ext uri="{FF2B5EF4-FFF2-40B4-BE49-F238E27FC236}">
                <a16:creationId xmlns:a16="http://schemas.microsoft.com/office/drawing/2014/main" id="{53109A96-4C9B-4F8C-9B12-78DD950F4E9D}"/>
              </a:ext>
            </a:extLst>
          </p:cNvPr>
          <p:cNvSpPr>
            <a:spLocks xmlns:a="http://schemas.openxmlformats.org/drawingml/2006/main" noGrp="1"/>
          </p:cNvSpPr>
          <p:nvPr/>
        </p:nvSpPr>
        <p:spPr>
          <a:xfrm xmlns:a="http://schemas.openxmlformats.org/drawingml/2006/main">
            <a:off x="9010650" y="3829050"/>
            <a:ext cx="24193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53748"/>
                </a:solidFill>
                <a:latin typeface="Arial"/>
                <a:ea typeface="Arial"/>
                <a:cs typeface="Arial"/>
              </a:defRPr>
            </a:defPPr>
            <a:lvl1pPr>
              <a:defRPr sz="1875" b="0">
                <a:solidFill>
                  <a:srgbClr val="253748"/>
                </a:solidFill>
                <a:latin typeface="Arial"/>
                <a:ea typeface="Arial"/>
                <a:cs typeface="Arial"/>
              </a:defRPr>
            </a:lvl1pPr>
            <a:lvl2pPr>
              <a:defRPr sz="1875" b="0">
                <a:solidFill>
                  <a:srgbClr val="253748"/>
                </a:solidFill>
                <a:latin typeface="Arial"/>
                <a:ea typeface="Arial"/>
                <a:cs typeface="Arial"/>
              </a:defRPr>
            </a:lvl2pPr>
            <a:lvl3pPr>
              <a:defRPr sz="1875" b="0">
                <a:solidFill>
                  <a:srgbClr val="253748"/>
                </a:solidFill>
                <a:latin typeface="Arial"/>
                <a:ea typeface="Arial"/>
                <a:cs typeface="Arial"/>
              </a:defRPr>
            </a:lvl3pPr>
            <a:lvl4pPr>
              <a:defRPr sz="1875" b="0">
                <a:solidFill>
                  <a:srgbClr val="253748"/>
                </a:solidFill>
                <a:latin typeface="Arial"/>
                <a:ea typeface="Arial"/>
                <a:cs typeface="Arial"/>
              </a:defRPr>
            </a:lvl4pPr>
            <a:lvl5pPr>
              <a:defRPr sz="1875" b="0">
                <a:solidFill>
                  <a:srgbClr val="253748"/>
                </a:solidFill>
                <a:latin typeface="Arial"/>
                <a:ea typeface="Arial"/>
                <a:cs typeface="Arial"/>
              </a:defRPr>
            </a:lvl5pPr>
            <a:lvl6pPr>
              <a:defRPr sz="1875" b="0">
                <a:solidFill>
                  <a:srgbClr val="253748"/>
                </a:solidFill>
                <a:latin typeface="Arial"/>
                <a:ea typeface="Arial"/>
                <a:cs typeface="Arial"/>
              </a:defRPr>
            </a:lvl6pPr>
            <a:lvl7pPr>
              <a:defRPr sz="1875" b="0">
                <a:solidFill>
                  <a:srgbClr val="253748"/>
                </a:solidFill>
                <a:latin typeface="Arial"/>
                <a:ea typeface="Arial"/>
                <a:cs typeface="Arial"/>
              </a:defRPr>
            </a:lvl7pPr>
            <a:lvl8pPr>
              <a:defRPr sz="1875" b="0">
                <a:solidFill>
                  <a:srgbClr val="253748"/>
                </a:solidFill>
                <a:latin typeface="Arial"/>
                <a:ea typeface="Arial"/>
                <a:cs typeface="Arial"/>
              </a:defRPr>
            </a:lvl8pPr>
            <a:lvl9pPr>
              <a:defRPr sz="1875" b="0">
                <a:solidFill>
                  <a:srgbClr val="253748"/>
                </a:solidFill>
                <a:latin typeface="Arial"/>
                <a:ea typeface="Arial"/>
                <a:cs typeface="Arial"/>
              </a:defRPr>
            </a:lvl9pPr>
          </a:lstStyle>
          <a:p xmlns:a="http://schemas.openxmlformats.org/drawingml/2006/main">
            <a:pPr>
              <a:defRPr sz="1875" b="0">
                <a:solidFill>
                  <a:srgbClr val="253748"/>
                </a:solidFill>
                <a:latin typeface="Arial"/>
                <a:ea typeface="Arial"/>
                <a:cs typeface="Arial"/>
              </a:defRPr>
            </a:pPr>
            <a:r>
              <a:rPr sz="1875" b="0">
                <a:solidFill>
                  <a:srgbClr val="253748"/>
                </a:solidFill>
                <a:latin typeface="Arial"/>
                <a:ea typeface="Arial"/>
                <a:cs typeface="Arial"/>
              </a:rPr>
              <a:t>El dueño acepta evidencia y pendientes del módulo.</a:t>
            </a:r>
          </a:p>
        </p:txBody>
      </p:sp>
      <p:sp>
        <p:nvSpPr>
          <p:cNvPr id="20" name="">
            <a:extLst xmlns:a="http://schemas.openxmlformats.org/drawingml/2006/main">
              <a:ext uri="{FF2B5EF4-FFF2-40B4-BE49-F238E27FC236}">
                <a16:creationId xmlns:a16="http://schemas.microsoft.com/office/drawing/2014/main" id="{36BF40A2-3A9E-4E10-A369-C9FEA7B4DD5F}"/>
              </a:ext>
            </a:extLst>
          </p:cNvPr>
          <p:cNvSpPr>
            <a:spLocks xmlns:a="http://schemas.openxmlformats.org/drawingml/2006/main" noGrp="1"/>
          </p:cNvSpPr>
          <p:nvPr/>
        </p:nvSpPr>
        <p:spPr>
          <a:xfrm xmlns:a="http://schemas.openxmlformats.org/drawingml/2006/main">
            <a:off x="609600" y="57340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BA631A"/>
                </a:solidFill>
                <a:latin typeface="Arial"/>
                <a:ea typeface="Arial"/>
                <a:cs typeface="Arial"/>
              </a:defRPr>
            </a:defPPr>
            <a:lvl1pPr>
              <a:defRPr sz="2100" b="1">
                <a:solidFill>
                  <a:srgbClr val="BA631A"/>
                </a:solidFill>
                <a:latin typeface="Arial"/>
                <a:ea typeface="Arial"/>
                <a:cs typeface="Arial"/>
              </a:defRPr>
            </a:lvl1pPr>
            <a:lvl2pPr>
              <a:defRPr sz="2100" b="1">
                <a:solidFill>
                  <a:srgbClr val="BA631A"/>
                </a:solidFill>
                <a:latin typeface="Arial"/>
                <a:ea typeface="Arial"/>
                <a:cs typeface="Arial"/>
              </a:defRPr>
            </a:lvl2pPr>
            <a:lvl3pPr>
              <a:defRPr sz="2100" b="1">
                <a:solidFill>
                  <a:srgbClr val="BA631A"/>
                </a:solidFill>
                <a:latin typeface="Arial"/>
                <a:ea typeface="Arial"/>
                <a:cs typeface="Arial"/>
              </a:defRPr>
            </a:lvl3pPr>
            <a:lvl4pPr>
              <a:defRPr sz="2100" b="1">
                <a:solidFill>
                  <a:srgbClr val="BA631A"/>
                </a:solidFill>
                <a:latin typeface="Arial"/>
                <a:ea typeface="Arial"/>
                <a:cs typeface="Arial"/>
              </a:defRPr>
            </a:lvl4pPr>
            <a:lvl5pPr>
              <a:defRPr sz="2100" b="1">
                <a:solidFill>
                  <a:srgbClr val="BA631A"/>
                </a:solidFill>
                <a:latin typeface="Arial"/>
                <a:ea typeface="Arial"/>
                <a:cs typeface="Arial"/>
              </a:defRPr>
            </a:lvl5pPr>
            <a:lvl6pPr>
              <a:defRPr sz="2100" b="1">
                <a:solidFill>
                  <a:srgbClr val="BA631A"/>
                </a:solidFill>
                <a:latin typeface="Arial"/>
                <a:ea typeface="Arial"/>
                <a:cs typeface="Arial"/>
              </a:defRPr>
            </a:lvl6pPr>
            <a:lvl7pPr>
              <a:defRPr sz="2100" b="1">
                <a:solidFill>
                  <a:srgbClr val="BA631A"/>
                </a:solidFill>
                <a:latin typeface="Arial"/>
                <a:ea typeface="Arial"/>
                <a:cs typeface="Arial"/>
              </a:defRPr>
            </a:lvl7pPr>
            <a:lvl8pPr>
              <a:defRPr sz="2100" b="1">
                <a:solidFill>
                  <a:srgbClr val="BA631A"/>
                </a:solidFill>
                <a:latin typeface="Arial"/>
                <a:ea typeface="Arial"/>
                <a:cs typeface="Arial"/>
              </a:defRPr>
            </a:lvl8pPr>
            <a:lvl9pPr>
              <a:defRPr sz="2100" b="1">
                <a:solidFill>
                  <a:srgbClr val="BA631A"/>
                </a:solidFill>
                <a:latin typeface="Arial"/>
                <a:ea typeface="Arial"/>
                <a:cs typeface="Arial"/>
              </a:defRPr>
            </a:lvl9pPr>
          </a:lstStyle>
          <a:p xmlns:a="http://schemas.openxmlformats.org/drawingml/2006/main">
            <a:pPr>
              <a:defRPr sz="2100" b="1">
                <a:solidFill>
                  <a:srgbClr val="BA631A"/>
                </a:solidFill>
                <a:latin typeface="Arial"/>
                <a:ea typeface="Arial"/>
                <a:cs typeface="Arial"/>
              </a:defRPr>
            </a:pPr>
            <a:r>
              <a:rPr sz="2100" b="1">
                <a:solidFill>
                  <a:srgbClr val="BA631A"/>
                </a:solidFill>
                <a:latin typeface="Arial"/>
                <a:ea typeface="Arial"/>
                <a:cs typeface="Arial"/>
              </a:rPr>
              <a:t>Durante el paralelo sigue valiendo la información DIARCO/SGM.</a:t>
            </a:r>
          </a:p>
        </p:txBody>
      </p:sp>
    </p:spTree>
    <p:extLst>
      <p:ext uri="{BB962C8B-B14F-4D97-AF65-F5344CB8AC3E}">
        <p14:creationId xmlns:p14="http://schemas.microsoft.com/office/powerpoint/2010/main" val="1425367585"/>
      </p:ext>
    </p:extLst>
  </p:cSld>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DCD19A-B102-43BC-A824-C128A14ECB9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La OC valorizada se acepta con una comparación completa</a:t>
            </a:r>
          </a:p>
        </p:txBody>
      </p:sp>
      <p:sp>
        <p:nvSpPr>
          <p:cNvPr id="2" name="">
            <a:extLst xmlns:a="http://schemas.openxmlformats.org/drawingml/2006/main">
              <a:ext uri="{FF2B5EF4-FFF2-40B4-BE49-F238E27FC236}">
                <a16:creationId xmlns:a16="http://schemas.microsoft.com/office/drawing/2014/main" id="{C59B1779-8800-446D-B931-14E103BCD58B}"/>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17476AB-3DDE-4261-955A-C87348302007}"/>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73EC8E36-FF81-42D3-8244-D5A30F13AAEF}"/>
              </a:ext>
            </a:extLst>
          </p:cNvPr>
          <p:cNvGraphicFramePr/>
          <p:nvPr/>
        </p:nvGraphicFramePr>
        <p:xfrm>
          <a:off xmlns:a="http://schemas.openxmlformats.org/drawingml/2006/main" x="609600" y="1762125"/>
          <a:ext xmlns:a="http://schemas.openxmlformats.org/drawingml/2006/main" cx="10972800" cy="3905250"/>
        </p:xfrm>
        <a:graphic xmlns:a="http://schemas.openxmlformats.org/drawingml/2006/main">
          <a:graphicData uri="http://schemas.openxmlformats.org/drawingml/2006/table">
            <a:tbl>
              <a:tblPr/>
              <a:tblGrid>
                <a:gridCol w="2857500"/>
                <a:gridCol w="8115300"/>
              </a:tblGrid>
              <a:tr h="650875">
                <a:tc>
                  <a:txBody>
                    <a:bodyPr wrap="square" lIns="114300" tIns="76200" rIns="114300" bIns="76200">
                      <a:noAutofit/>
                    </a:bodyPr>
                    <a:lstStyle/>
                    <a:p>
                      <a:r>
                        <a:rPr sz="1800" b="1">
                          <a:solidFill>
                            <a:srgbClr val="FFFFFF"/>
                          </a:solidFill>
                          <a:latin typeface="Arial"/>
                          <a:ea typeface="Arial"/>
                          <a:cs typeface="Arial"/>
                        </a:rPr>
                        <a:t>Grupo de control</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800" b="1">
                          <a:solidFill>
                            <a:srgbClr val="FFFFFF"/>
                          </a:solidFill>
                          <a:latin typeface="Arial"/>
                          <a:ea typeface="Arial"/>
                          <a:cs typeface="Arial"/>
                        </a:rPr>
                        <a:t>Comparación requerida</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r>
              <a:tr h="650875">
                <a:tc>
                  <a:txBody>
                    <a:bodyPr wrap="square" lIns="114300" tIns="76200" rIns="114300" bIns="76200">
                      <a:noAutofit/>
                    </a:bodyPr>
                    <a:lstStyle/>
                    <a:p>
                      <a:r>
                        <a:rPr sz="1800" b="0">
                          <a:solidFill>
                            <a:srgbClr val="253748"/>
                          </a:solidFill>
                          <a:latin typeface="Arial"/>
                          <a:ea typeface="Arial"/>
                          <a:cs typeface="Arial"/>
                        </a:rPr>
                        <a:t>Identidad y contexto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800" b="0">
                          <a:solidFill>
                            <a:srgbClr val="253748"/>
                          </a:solidFill>
                          <a:latin typeface="Arial"/>
                          <a:ea typeface="Arial"/>
                          <a:cs typeface="Arial"/>
                        </a:rPr>
                        <a:t>Proveedor, sucursal, fecha, moneda, lista y versión.</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50875">
                <a:tc>
                  <a:txBody>
                    <a:bodyPr wrap="square" lIns="114300" tIns="76200" rIns="114300" bIns="76200">
                      <a:noAutofit/>
                    </a:bodyPr>
                    <a:lstStyle/>
                    <a:p>
                      <a:r>
                        <a:rPr sz="1800" b="0">
                          <a:solidFill>
                            <a:srgbClr val="253748"/>
                          </a:solidFill>
                          <a:latin typeface="Arial"/>
                          <a:ea typeface="Arial"/>
                          <a:cs typeface="Arial"/>
                        </a:rPr>
                        <a:t>Cada línea</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800" b="0">
                          <a:solidFill>
                            <a:srgbClr val="253748"/>
                          </a:solidFill>
                          <a:latin typeface="Arial"/>
                          <a:ea typeface="Arial"/>
                          <a:cs typeface="Arial"/>
                        </a:rPr>
                        <a:t>Artículo, unidad, cantidad, precio y descuentos en su orden.</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50875">
                <a:tc>
                  <a:txBody>
                    <a:bodyPr wrap="square" lIns="114300" tIns="76200" rIns="114300" bIns="76200">
                      <a:noAutofit/>
                    </a:bodyPr>
                    <a:lstStyle/>
                    <a:p>
                      <a:r>
                        <a:rPr sz="1800" b="0">
                          <a:solidFill>
                            <a:srgbClr val="253748"/>
                          </a:solidFill>
                          <a:latin typeface="Arial"/>
                          <a:ea typeface="Arial"/>
                          <a:cs typeface="Arial"/>
                        </a:rPr>
                        <a:t>Valorización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800" b="0">
                          <a:solidFill>
                            <a:srgbClr val="253748"/>
                          </a:solidFill>
                          <a:latin typeface="Arial"/>
                          <a:ea typeface="Arial"/>
                          <a:cs typeface="Arial"/>
                        </a:rPr>
                        <a:t>Neto, internos, IVA, redondeos y total.</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50875">
                <a:tc>
                  <a:txBody>
                    <a:bodyPr wrap="square" lIns="114300" tIns="76200" rIns="114300" bIns="76200">
                      <a:noAutofit/>
                    </a:bodyPr>
                    <a:lstStyle/>
                    <a:p>
                      <a:r>
                        <a:rPr sz="1800" b="0">
                          <a:solidFill>
                            <a:srgbClr val="253748"/>
                          </a:solidFill>
                          <a:latin typeface="Arial"/>
                          <a:ea typeface="Arial"/>
                          <a:cs typeface="Arial"/>
                        </a:rPr>
                        <a:t>Autorización y destino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800" b="0">
                          <a:solidFill>
                            <a:srgbClr val="253748"/>
                          </a:solidFill>
                          <a:latin typeface="Arial"/>
                          <a:ea typeface="Arial"/>
                          <a:cs typeface="Arial"/>
                        </a:rPr>
                        <a:t>Una aprobación, números vinculados y acuse funcional.</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50875">
                <a:tc>
                  <a:txBody>
                    <a:bodyPr wrap="square" lIns="114300" tIns="76200" rIns="114300" bIns="76200">
                      <a:noAutofit/>
                    </a:bodyPr>
                    <a:lstStyle/>
                    <a:p>
                      <a:r>
                        <a:rPr sz="1800" b="0">
                          <a:solidFill>
                            <a:srgbClr val="253748"/>
                          </a:solidFill>
                          <a:latin typeface="Arial"/>
                          <a:ea typeface="Arial"/>
                          <a:cs typeface="Arial"/>
                        </a:rPr>
                        <a:t>Cada diferencia</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800" b="0">
                          <a:solidFill>
                            <a:srgbClr val="253748"/>
                          </a:solidFill>
                          <a:latin typeface="Arial"/>
                          <a:ea typeface="Arial"/>
                          <a:cs typeface="Arial"/>
                        </a:rPr>
                        <a:t>Connexa, DIARCO/SGM, esperado, tolerancia, causa y reprueba.</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1897FF7-A6CC-41BE-AB70-A3188D90702A}"/>
              </a:ext>
            </a:extLst>
          </p:cNvPr>
          <p:cNvSpPr>
            <a:spLocks xmlns:a="http://schemas.openxmlformats.org/drawingml/2006/main" noGrp="1"/>
          </p:cNvSpPr>
          <p:nvPr/>
        </p:nvSpPr>
        <p:spPr>
          <a:xfrm xmlns:a="http://schemas.openxmlformats.org/drawingml/2006/main">
            <a:off x="609600" y="5905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BA631A"/>
                </a:solidFill>
                <a:latin typeface="Arial"/>
                <a:ea typeface="Arial"/>
                <a:cs typeface="Arial"/>
              </a:defRPr>
            </a:defPPr>
            <a:lvl1pPr>
              <a:defRPr sz="1725" b="1">
                <a:solidFill>
                  <a:srgbClr val="BA631A"/>
                </a:solidFill>
                <a:latin typeface="Arial"/>
                <a:ea typeface="Arial"/>
                <a:cs typeface="Arial"/>
              </a:defRPr>
            </a:lvl1pPr>
            <a:lvl2pPr>
              <a:defRPr sz="1725" b="1">
                <a:solidFill>
                  <a:srgbClr val="BA631A"/>
                </a:solidFill>
                <a:latin typeface="Arial"/>
                <a:ea typeface="Arial"/>
                <a:cs typeface="Arial"/>
              </a:defRPr>
            </a:lvl2pPr>
            <a:lvl3pPr>
              <a:defRPr sz="1725" b="1">
                <a:solidFill>
                  <a:srgbClr val="BA631A"/>
                </a:solidFill>
                <a:latin typeface="Arial"/>
                <a:ea typeface="Arial"/>
                <a:cs typeface="Arial"/>
              </a:defRPr>
            </a:lvl3pPr>
            <a:lvl4pPr>
              <a:defRPr sz="1725" b="1">
                <a:solidFill>
                  <a:srgbClr val="BA631A"/>
                </a:solidFill>
                <a:latin typeface="Arial"/>
                <a:ea typeface="Arial"/>
                <a:cs typeface="Arial"/>
              </a:defRPr>
            </a:lvl4pPr>
            <a:lvl5pPr>
              <a:defRPr sz="1725" b="1">
                <a:solidFill>
                  <a:srgbClr val="BA631A"/>
                </a:solidFill>
                <a:latin typeface="Arial"/>
                <a:ea typeface="Arial"/>
                <a:cs typeface="Arial"/>
              </a:defRPr>
            </a:lvl5pPr>
            <a:lvl6pPr>
              <a:defRPr sz="1725" b="1">
                <a:solidFill>
                  <a:srgbClr val="BA631A"/>
                </a:solidFill>
                <a:latin typeface="Arial"/>
                <a:ea typeface="Arial"/>
                <a:cs typeface="Arial"/>
              </a:defRPr>
            </a:lvl6pPr>
            <a:lvl7pPr>
              <a:defRPr sz="1725" b="1">
                <a:solidFill>
                  <a:srgbClr val="BA631A"/>
                </a:solidFill>
                <a:latin typeface="Arial"/>
                <a:ea typeface="Arial"/>
                <a:cs typeface="Arial"/>
              </a:defRPr>
            </a:lvl7pPr>
            <a:lvl8pPr>
              <a:defRPr sz="1725" b="1">
                <a:solidFill>
                  <a:srgbClr val="BA631A"/>
                </a:solidFill>
                <a:latin typeface="Arial"/>
                <a:ea typeface="Arial"/>
                <a:cs typeface="Arial"/>
              </a:defRPr>
            </a:lvl8pPr>
            <a:lvl9pPr>
              <a:defRPr sz="1725" b="1">
                <a:solidFill>
                  <a:srgbClr val="BA631A"/>
                </a:solidFill>
                <a:latin typeface="Arial"/>
                <a:ea typeface="Arial"/>
                <a:cs typeface="Arial"/>
              </a:defRPr>
            </a:lvl9pPr>
          </a:lstStyle>
          <a:p xmlns:a="http://schemas.openxmlformats.org/drawingml/2006/main">
            <a:pPr>
              <a:defRPr sz="1725" b="1">
                <a:solidFill>
                  <a:srgbClr val="BA631A"/>
                </a:solidFill>
                <a:latin typeface="Arial"/>
                <a:ea typeface="Arial"/>
                <a:cs typeface="Arial"/>
              </a:defRPr>
            </a:pPr>
            <a:r>
              <a:rPr sz="1725" b="1">
                <a:solidFill>
                  <a:srgbClr val="BA631A"/>
                </a:solidFill>
                <a:latin typeface="Arial"/>
                <a:ea typeface="Arial"/>
                <a:cs typeface="Arial"/>
              </a:rPr>
              <a:t>Una sola comunicación al proveedor. Sin duplicar documentos para comparar.</a:t>
            </a:r>
          </a:p>
        </p:txBody>
      </p:sp>
    </p:spTree>
    <p:extLst>
      <p:ext uri="{BB962C8B-B14F-4D97-AF65-F5344CB8AC3E}">
        <p14:creationId xmlns:p14="http://schemas.microsoft.com/office/powerpoint/2010/main" val="485399939"/>
      </p:ext>
    </p:extLst>
  </p:cSld>
</p:sld>
</file>

<file path=ppt/slides/slide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FDC68BC-90D5-4342-9BE9-98661BA264F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Cada referente recibe un paquete concreto</a:t>
            </a:r>
          </a:p>
        </p:txBody>
      </p:sp>
      <p:sp>
        <p:nvSpPr>
          <p:cNvPr id="2" name="">
            <a:extLst xmlns:a="http://schemas.openxmlformats.org/drawingml/2006/main">
              <a:ext uri="{FF2B5EF4-FFF2-40B4-BE49-F238E27FC236}">
                <a16:creationId xmlns:a16="http://schemas.microsoft.com/office/drawing/2014/main" id="{F7C9FC28-8D5B-409B-99AC-A1E961FAE84A}"/>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25F0AD-5575-4DD5-B887-F80382CEF6B2}"/>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5AD27174-08DD-4002-89E2-C833EDDCB22C}"/>
              </a:ext>
            </a:extLst>
          </p:cNvPr>
          <p:cNvSpPr>
            <a:spLocks xmlns:a="http://schemas.openxmlformats.org/drawingml/2006/main" noGrp="1"/>
          </p:cNvSpPr>
          <p:nvPr/>
        </p:nvSpPr>
        <p:spPr>
          <a:xfrm xmlns:a="http://schemas.openxmlformats.org/drawingml/2006/main">
            <a:off x="609600" y="18192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9334C"/>
                </a:solidFill>
                <a:latin typeface="Arial"/>
                <a:ea typeface="Arial"/>
                <a:cs typeface="Arial"/>
              </a:defRPr>
            </a:defPPr>
            <a:lvl1pPr>
              <a:defRPr sz="2175" b="1">
                <a:solidFill>
                  <a:srgbClr val="19334C"/>
                </a:solidFill>
                <a:latin typeface="Arial"/>
                <a:ea typeface="Arial"/>
                <a:cs typeface="Arial"/>
              </a:defRPr>
            </a:lvl1pPr>
            <a:lvl2pPr>
              <a:defRPr sz="2175" b="1">
                <a:solidFill>
                  <a:srgbClr val="19334C"/>
                </a:solidFill>
                <a:latin typeface="Arial"/>
                <a:ea typeface="Arial"/>
                <a:cs typeface="Arial"/>
              </a:defRPr>
            </a:lvl2pPr>
            <a:lvl3pPr>
              <a:defRPr sz="2175" b="1">
                <a:solidFill>
                  <a:srgbClr val="19334C"/>
                </a:solidFill>
                <a:latin typeface="Arial"/>
                <a:ea typeface="Arial"/>
                <a:cs typeface="Arial"/>
              </a:defRPr>
            </a:lvl3pPr>
            <a:lvl4pPr>
              <a:defRPr sz="2175" b="1">
                <a:solidFill>
                  <a:srgbClr val="19334C"/>
                </a:solidFill>
                <a:latin typeface="Arial"/>
                <a:ea typeface="Arial"/>
                <a:cs typeface="Arial"/>
              </a:defRPr>
            </a:lvl4pPr>
            <a:lvl5pPr>
              <a:defRPr sz="2175" b="1">
                <a:solidFill>
                  <a:srgbClr val="19334C"/>
                </a:solidFill>
                <a:latin typeface="Arial"/>
                <a:ea typeface="Arial"/>
                <a:cs typeface="Arial"/>
              </a:defRPr>
            </a:lvl5pPr>
            <a:lvl6pPr>
              <a:defRPr sz="2175" b="1">
                <a:solidFill>
                  <a:srgbClr val="19334C"/>
                </a:solidFill>
                <a:latin typeface="Arial"/>
                <a:ea typeface="Arial"/>
                <a:cs typeface="Arial"/>
              </a:defRPr>
            </a:lvl6pPr>
            <a:lvl7pPr>
              <a:defRPr sz="2175" b="1">
                <a:solidFill>
                  <a:srgbClr val="19334C"/>
                </a:solidFill>
                <a:latin typeface="Arial"/>
                <a:ea typeface="Arial"/>
                <a:cs typeface="Arial"/>
              </a:defRPr>
            </a:lvl7pPr>
            <a:lvl8pPr>
              <a:defRPr sz="2175" b="1">
                <a:solidFill>
                  <a:srgbClr val="19334C"/>
                </a:solidFill>
                <a:latin typeface="Arial"/>
                <a:ea typeface="Arial"/>
                <a:cs typeface="Arial"/>
              </a:defRPr>
            </a:lvl8pPr>
            <a:lvl9pPr>
              <a:defRPr sz="2175" b="1">
                <a:solidFill>
                  <a:srgbClr val="19334C"/>
                </a:solidFill>
                <a:latin typeface="Arial"/>
                <a:ea typeface="Arial"/>
                <a:cs typeface="Arial"/>
              </a:defRPr>
            </a:lvl9pPr>
          </a:lstStyle>
          <a:p xmlns:a="http://schemas.openxmlformats.org/drawingml/2006/main">
            <a:pPr>
              <a:defRPr sz="2175" b="1">
                <a:solidFill>
                  <a:srgbClr val="19334C"/>
                </a:solidFill>
                <a:latin typeface="Arial"/>
                <a:ea typeface="Arial"/>
                <a:cs typeface="Arial"/>
              </a:defRPr>
            </a:pPr>
            <a:r>
              <a:rPr sz="2175" b="1">
                <a:solidFill>
                  <a:srgbClr val="19334C"/>
                </a:solidFill>
                <a:latin typeface="Arial"/>
                <a:ea typeface="Arial"/>
                <a:cs typeface="Arial"/>
              </a:rPr>
              <a:t>Tiene que hacer</a:t>
            </a:r>
          </a:p>
        </p:txBody>
      </p:sp>
      <p:sp>
        <p:nvSpPr>
          <p:cNvPr id="5" name="">
            <a:extLst xmlns:a="http://schemas.openxmlformats.org/drawingml/2006/main">
              <a:ext uri="{FF2B5EF4-FFF2-40B4-BE49-F238E27FC236}">
                <a16:creationId xmlns:a16="http://schemas.microsoft.com/office/drawing/2014/main" id="{C4EFB2BC-29D4-4906-B59B-F3B3EC8A54D0}"/>
              </a:ext>
            </a:extLst>
          </p:cNvPr>
          <p:cNvSpPr>
            <a:spLocks xmlns:a="http://schemas.openxmlformats.org/drawingml/2006/main" noGrp="1"/>
          </p:cNvSpPr>
          <p:nvPr/>
        </p:nvSpPr>
        <p:spPr>
          <a:xfrm xmlns:a="http://schemas.openxmlformats.org/drawingml/2006/main">
            <a:off x="609600" y="2438400"/>
            <a:ext cx="50958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253748"/>
                </a:solidFill>
                <a:latin typeface="Arial"/>
                <a:ea typeface="Arial"/>
                <a:cs typeface="Arial"/>
              </a:defRPr>
            </a:defPPr>
            <a:lvl1pPr>
              <a:defRPr sz="1950" b="0">
                <a:solidFill>
                  <a:srgbClr val="253748"/>
                </a:solidFill>
                <a:latin typeface="Arial"/>
                <a:ea typeface="Arial"/>
                <a:cs typeface="Arial"/>
              </a:defRPr>
            </a:lvl1pPr>
            <a:lvl2pPr>
              <a:defRPr sz="1950" b="0">
                <a:solidFill>
                  <a:srgbClr val="253748"/>
                </a:solidFill>
                <a:latin typeface="Arial"/>
                <a:ea typeface="Arial"/>
                <a:cs typeface="Arial"/>
              </a:defRPr>
            </a:lvl2pPr>
            <a:lvl3pPr>
              <a:defRPr sz="1950" b="0">
                <a:solidFill>
                  <a:srgbClr val="253748"/>
                </a:solidFill>
                <a:latin typeface="Arial"/>
                <a:ea typeface="Arial"/>
                <a:cs typeface="Arial"/>
              </a:defRPr>
            </a:lvl3pPr>
            <a:lvl4pPr>
              <a:defRPr sz="1950" b="0">
                <a:solidFill>
                  <a:srgbClr val="253748"/>
                </a:solidFill>
                <a:latin typeface="Arial"/>
                <a:ea typeface="Arial"/>
                <a:cs typeface="Arial"/>
              </a:defRPr>
            </a:lvl4pPr>
            <a:lvl5pPr>
              <a:defRPr sz="1950" b="0">
                <a:solidFill>
                  <a:srgbClr val="253748"/>
                </a:solidFill>
                <a:latin typeface="Arial"/>
                <a:ea typeface="Arial"/>
                <a:cs typeface="Arial"/>
              </a:defRPr>
            </a:lvl5pPr>
            <a:lvl6pPr>
              <a:defRPr sz="1950" b="0">
                <a:solidFill>
                  <a:srgbClr val="253748"/>
                </a:solidFill>
                <a:latin typeface="Arial"/>
                <a:ea typeface="Arial"/>
                <a:cs typeface="Arial"/>
              </a:defRPr>
            </a:lvl6pPr>
            <a:lvl7pPr>
              <a:defRPr sz="1950" b="0">
                <a:solidFill>
                  <a:srgbClr val="253748"/>
                </a:solidFill>
                <a:latin typeface="Arial"/>
                <a:ea typeface="Arial"/>
                <a:cs typeface="Arial"/>
              </a:defRPr>
            </a:lvl7pPr>
            <a:lvl8pPr>
              <a:defRPr sz="1950" b="0">
                <a:solidFill>
                  <a:srgbClr val="253748"/>
                </a:solidFill>
                <a:latin typeface="Arial"/>
                <a:ea typeface="Arial"/>
                <a:cs typeface="Arial"/>
              </a:defRPr>
            </a:lvl8pPr>
            <a:lvl9pPr>
              <a:defRPr sz="1950" b="0">
                <a:solidFill>
                  <a:srgbClr val="253748"/>
                </a:solidFill>
                <a:latin typeface="Arial"/>
                <a:ea typeface="Arial"/>
                <a:cs typeface="Arial"/>
              </a:defRPr>
            </a:lvl9pPr>
          </a:lstStyle>
          <a:p xmlns:a="http://schemas.openxmlformats.org/drawingml/2006/main">
            <a:pPr>
              <a:defRPr sz="1950" b="0">
                <a:solidFill>
                  <a:srgbClr val="253748"/>
                </a:solidFill>
                <a:latin typeface="Arial"/>
                <a:ea typeface="Arial"/>
                <a:cs typeface="Arial"/>
              </a:defRPr>
            </a:pPr>
            <a:r>
              <a:rPr sz="1950" b="0">
                <a:solidFill>
                  <a:srgbClr val="253748"/>
                </a:solidFill>
                <a:latin typeface="Arial"/>
                <a:ea typeface="Arial"/>
                <a:cs typeface="Arial"/>
              </a:rPr>
              <a:t>Preparar datos y casos representativos.</a:t>
            </a:r>
          </a:p>
        </p:txBody>
      </p:sp>
      <p:sp>
        <p:nvSpPr>
          <p:cNvPr id="6" name="">
            <a:extLst xmlns:a="http://schemas.openxmlformats.org/drawingml/2006/main">
              <a:ext uri="{FF2B5EF4-FFF2-40B4-BE49-F238E27FC236}">
                <a16:creationId xmlns:a16="http://schemas.microsoft.com/office/drawing/2014/main" id="{26CEB706-3628-4293-8FBB-F4CB27131C44}"/>
              </a:ext>
            </a:extLst>
          </p:cNvPr>
          <p:cNvSpPr>
            <a:spLocks xmlns:a="http://schemas.openxmlformats.org/drawingml/2006/main" noGrp="1"/>
          </p:cNvSpPr>
          <p:nvPr/>
        </p:nvSpPr>
        <p:spPr>
          <a:xfrm xmlns:a="http://schemas.openxmlformats.org/drawingml/2006/main">
            <a:off x="609600" y="3228975"/>
            <a:ext cx="50958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253748"/>
                </a:solidFill>
                <a:latin typeface="Arial"/>
                <a:ea typeface="Arial"/>
                <a:cs typeface="Arial"/>
              </a:defRPr>
            </a:defPPr>
            <a:lvl1pPr>
              <a:defRPr sz="1950" b="0">
                <a:solidFill>
                  <a:srgbClr val="253748"/>
                </a:solidFill>
                <a:latin typeface="Arial"/>
                <a:ea typeface="Arial"/>
                <a:cs typeface="Arial"/>
              </a:defRPr>
            </a:lvl1pPr>
            <a:lvl2pPr>
              <a:defRPr sz="1950" b="0">
                <a:solidFill>
                  <a:srgbClr val="253748"/>
                </a:solidFill>
                <a:latin typeface="Arial"/>
                <a:ea typeface="Arial"/>
                <a:cs typeface="Arial"/>
              </a:defRPr>
            </a:lvl2pPr>
            <a:lvl3pPr>
              <a:defRPr sz="1950" b="0">
                <a:solidFill>
                  <a:srgbClr val="253748"/>
                </a:solidFill>
                <a:latin typeface="Arial"/>
                <a:ea typeface="Arial"/>
                <a:cs typeface="Arial"/>
              </a:defRPr>
            </a:lvl3pPr>
            <a:lvl4pPr>
              <a:defRPr sz="1950" b="0">
                <a:solidFill>
                  <a:srgbClr val="253748"/>
                </a:solidFill>
                <a:latin typeface="Arial"/>
                <a:ea typeface="Arial"/>
                <a:cs typeface="Arial"/>
              </a:defRPr>
            </a:lvl4pPr>
            <a:lvl5pPr>
              <a:defRPr sz="1950" b="0">
                <a:solidFill>
                  <a:srgbClr val="253748"/>
                </a:solidFill>
                <a:latin typeface="Arial"/>
                <a:ea typeface="Arial"/>
                <a:cs typeface="Arial"/>
              </a:defRPr>
            </a:lvl5pPr>
            <a:lvl6pPr>
              <a:defRPr sz="1950" b="0">
                <a:solidFill>
                  <a:srgbClr val="253748"/>
                </a:solidFill>
                <a:latin typeface="Arial"/>
                <a:ea typeface="Arial"/>
                <a:cs typeface="Arial"/>
              </a:defRPr>
            </a:lvl6pPr>
            <a:lvl7pPr>
              <a:defRPr sz="1950" b="0">
                <a:solidFill>
                  <a:srgbClr val="253748"/>
                </a:solidFill>
                <a:latin typeface="Arial"/>
                <a:ea typeface="Arial"/>
                <a:cs typeface="Arial"/>
              </a:defRPr>
            </a:lvl7pPr>
            <a:lvl8pPr>
              <a:defRPr sz="1950" b="0">
                <a:solidFill>
                  <a:srgbClr val="253748"/>
                </a:solidFill>
                <a:latin typeface="Arial"/>
                <a:ea typeface="Arial"/>
                <a:cs typeface="Arial"/>
              </a:defRPr>
            </a:lvl8pPr>
            <a:lvl9pPr>
              <a:defRPr sz="1950" b="0">
                <a:solidFill>
                  <a:srgbClr val="253748"/>
                </a:solidFill>
                <a:latin typeface="Arial"/>
                <a:ea typeface="Arial"/>
                <a:cs typeface="Arial"/>
              </a:defRPr>
            </a:lvl9pPr>
          </a:lstStyle>
          <a:p xmlns:a="http://schemas.openxmlformats.org/drawingml/2006/main">
            <a:pPr>
              <a:defRPr sz="1950" b="0">
                <a:solidFill>
                  <a:srgbClr val="253748"/>
                </a:solidFill>
                <a:latin typeface="Arial"/>
                <a:ea typeface="Arial"/>
                <a:cs typeface="Arial"/>
              </a:defRPr>
            </a:pPr>
            <a:r>
              <a:rPr sz="1950" b="0">
                <a:solidFill>
                  <a:srgbClr val="253748"/>
                </a:solidFill>
                <a:latin typeface="Arial"/>
                <a:ea typeface="Arial"/>
                <a:cs typeface="Arial"/>
              </a:rPr>
              <a:t>Ejecutar UAT y guardar evidencia.</a:t>
            </a:r>
          </a:p>
        </p:txBody>
      </p:sp>
      <p:sp>
        <p:nvSpPr>
          <p:cNvPr id="7" name="">
            <a:extLst xmlns:a="http://schemas.openxmlformats.org/drawingml/2006/main">
              <a:ext uri="{FF2B5EF4-FFF2-40B4-BE49-F238E27FC236}">
                <a16:creationId xmlns:a16="http://schemas.microsoft.com/office/drawing/2014/main" id="{DC9356C7-A117-4BCD-88B4-A1A9E6D47165}"/>
              </a:ext>
            </a:extLst>
          </p:cNvPr>
          <p:cNvSpPr>
            <a:spLocks xmlns:a="http://schemas.openxmlformats.org/drawingml/2006/main" noGrp="1"/>
          </p:cNvSpPr>
          <p:nvPr/>
        </p:nvSpPr>
        <p:spPr>
          <a:xfrm xmlns:a="http://schemas.openxmlformats.org/drawingml/2006/main">
            <a:off x="609600" y="4019550"/>
            <a:ext cx="50958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253748"/>
                </a:solidFill>
                <a:latin typeface="Arial"/>
                <a:ea typeface="Arial"/>
                <a:cs typeface="Arial"/>
              </a:defRPr>
            </a:defPPr>
            <a:lvl1pPr>
              <a:defRPr sz="1950" b="0">
                <a:solidFill>
                  <a:srgbClr val="253748"/>
                </a:solidFill>
                <a:latin typeface="Arial"/>
                <a:ea typeface="Arial"/>
                <a:cs typeface="Arial"/>
              </a:defRPr>
            </a:lvl1pPr>
            <a:lvl2pPr>
              <a:defRPr sz="1950" b="0">
                <a:solidFill>
                  <a:srgbClr val="253748"/>
                </a:solidFill>
                <a:latin typeface="Arial"/>
                <a:ea typeface="Arial"/>
                <a:cs typeface="Arial"/>
              </a:defRPr>
            </a:lvl2pPr>
            <a:lvl3pPr>
              <a:defRPr sz="1950" b="0">
                <a:solidFill>
                  <a:srgbClr val="253748"/>
                </a:solidFill>
                <a:latin typeface="Arial"/>
                <a:ea typeface="Arial"/>
                <a:cs typeface="Arial"/>
              </a:defRPr>
            </a:lvl3pPr>
            <a:lvl4pPr>
              <a:defRPr sz="1950" b="0">
                <a:solidFill>
                  <a:srgbClr val="253748"/>
                </a:solidFill>
                <a:latin typeface="Arial"/>
                <a:ea typeface="Arial"/>
                <a:cs typeface="Arial"/>
              </a:defRPr>
            </a:lvl4pPr>
            <a:lvl5pPr>
              <a:defRPr sz="1950" b="0">
                <a:solidFill>
                  <a:srgbClr val="253748"/>
                </a:solidFill>
                <a:latin typeface="Arial"/>
                <a:ea typeface="Arial"/>
                <a:cs typeface="Arial"/>
              </a:defRPr>
            </a:lvl5pPr>
            <a:lvl6pPr>
              <a:defRPr sz="1950" b="0">
                <a:solidFill>
                  <a:srgbClr val="253748"/>
                </a:solidFill>
                <a:latin typeface="Arial"/>
                <a:ea typeface="Arial"/>
                <a:cs typeface="Arial"/>
              </a:defRPr>
            </a:lvl6pPr>
            <a:lvl7pPr>
              <a:defRPr sz="1950" b="0">
                <a:solidFill>
                  <a:srgbClr val="253748"/>
                </a:solidFill>
                <a:latin typeface="Arial"/>
                <a:ea typeface="Arial"/>
                <a:cs typeface="Arial"/>
              </a:defRPr>
            </a:lvl7pPr>
            <a:lvl8pPr>
              <a:defRPr sz="1950" b="0">
                <a:solidFill>
                  <a:srgbClr val="253748"/>
                </a:solidFill>
                <a:latin typeface="Arial"/>
                <a:ea typeface="Arial"/>
                <a:cs typeface="Arial"/>
              </a:defRPr>
            </a:lvl8pPr>
            <a:lvl9pPr>
              <a:defRPr sz="1950" b="0">
                <a:solidFill>
                  <a:srgbClr val="253748"/>
                </a:solidFill>
                <a:latin typeface="Arial"/>
                <a:ea typeface="Arial"/>
                <a:cs typeface="Arial"/>
              </a:defRPr>
            </a:lvl9pPr>
          </a:lstStyle>
          <a:p xmlns:a="http://schemas.openxmlformats.org/drawingml/2006/main">
            <a:pPr>
              <a:defRPr sz="1950" b="0">
                <a:solidFill>
                  <a:srgbClr val="253748"/>
                </a:solidFill>
                <a:latin typeface="Arial"/>
                <a:ea typeface="Arial"/>
                <a:cs typeface="Arial"/>
              </a:defRPr>
            </a:pPr>
            <a:r>
              <a:rPr sz="1950" b="0">
                <a:solidFill>
                  <a:srgbClr val="253748"/>
                </a:solidFill>
                <a:latin typeface="Arial"/>
                <a:ea typeface="Arial"/>
                <a:cs typeface="Arial"/>
              </a:rPr>
              <a:t>Formar usuarios y mantener las guías.</a:t>
            </a:r>
          </a:p>
        </p:txBody>
      </p:sp>
      <p:sp>
        <p:nvSpPr>
          <p:cNvPr id="8" name="">
            <a:extLst xmlns:a="http://schemas.openxmlformats.org/drawingml/2006/main">
              <a:ext uri="{FF2B5EF4-FFF2-40B4-BE49-F238E27FC236}">
                <a16:creationId xmlns:a16="http://schemas.microsoft.com/office/drawing/2014/main" id="{AB6348B5-3EF1-4922-9FA1-DEEA78A5DC8E}"/>
              </a:ext>
            </a:extLst>
          </p:cNvPr>
          <p:cNvSpPr>
            <a:spLocks xmlns:a="http://schemas.openxmlformats.org/drawingml/2006/main" noGrp="1"/>
          </p:cNvSpPr>
          <p:nvPr/>
        </p:nvSpPr>
        <p:spPr>
          <a:xfrm xmlns:a="http://schemas.openxmlformats.org/drawingml/2006/main">
            <a:off x="609600" y="4810125"/>
            <a:ext cx="50958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253748"/>
                </a:solidFill>
                <a:latin typeface="Arial"/>
                <a:ea typeface="Arial"/>
                <a:cs typeface="Arial"/>
              </a:defRPr>
            </a:defPPr>
            <a:lvl1pPr>
              <a:defRPr sz="1950" b="0">
                <a:solidFill>
                  <a:srgbClr val="253748"/>
                </a:solidFill>
                <a:latin typeface="Arial"/>
                <a:ea typeface="Arial"/>
                <a:cs typeface="Arial"/>
              </a:defRPr>
            </a:lvl1pPr>
            <a:lvl2pPr>
              <a:defRPr sz="1950" b="0">
                <a:solidFill>
                  <a:srgbClr val="253748"/>
                </a:solidFill>
                <a:latin typeface="Arial"/>
                <a:ea typeface="Arial"/>
                <a:cs typeface="Arial"/>
              </a:defRPr>
            </a:lvl2pPr>
            <a:lvl3pPr>
              <a:defRPr sz="1950" b="0">
                <a:solidFill>
                  <a:srgbClr val="253748"/>
                </a:solidFill>
                <a:latin typeface="Arial"/>
                <a:ea typeface="Arial"/>
                <a:cs typeface="Arial"/>
              </a:defRPr>
            </a:lvl3pPr>
            <a:lvl4pPr>
              <a:defRPr sz="1950" b="0">
                <a:solidFill>
                  <a:srgbClr val="253748"/>
                </a:solidFill>
                <a:latin typeface="Arial"/>
                <a:ea typeface="Arial"/>
                <a:cs typeface="Arial"/>
              </a:defRPr>
            </a:lvl4pPr>
            <a:lvl5pPr>
              <a:defRPr sz="1950" b="0">
                <a:solidFill>
                  <a:srgbClr val="253748"/>
                </a:solidFill>
                <a:latin typeface="Arial"/>
                <a:ea typeface="Arial"/>
                <a:cs typeface="Arial"/>
              </a:defRPr>
            </a:lvl5pPr>
            <a:lvl6pPr>
              <a:defRPr sz="1950" b="0">
                <a:solidFill>
                  <a:srgbClr val="253748"/>
                </a:solidFill>
                <a:latin typeface="Arial"/>
                <a:ea typeface="Arial"/>
                <a:cs typeface="Arial"/>
              </a:defRPr>
            </a:lvl6pPr>
            <a:lvl7pPr>
              <a:defRPr sz="1950" b="0">
                <a:solidFill>
                  <a:srgbClr val="253748"/>
                </a:solidFill>
                <a:latin typeface="Arial"/>
                <a:ea typeface="Arial"/>
                <a:cs typeface="Arial"/>
              </a:defRPr>
            </a:lvl7pPr>
            <a:lvl8pPr>
              <a:defRPr sz="1950" b="0">
                <a:solidFill>
                  <a:srgbClr val="253748"/>
                </a:solidFill>
                <a:latin typeface="Arial"/>
                <a:ea typeface="Arial"/>
                <a:cs typeface="Arial"/>
              </a:defRPr>
            </a:lvl8pPr>
            <a:lvl9pPr>
              <a:defRPr sz="1950" b="0">
                <a:solidFill>
                  <a:srgbClr val="253748"/>
                </a:solidFill>
                <a:latin typeface="Arial"/>
                <a:ea typeface="Arial"/>
                <a:cs typeface="Arial"/>
              </a:defRPr>
            </a:lvl9pPr>
          </a:lstStyle>
          <a:p xmlns:a="http://schemas.openxmlformats.org/drawingml/2006/main">
            <a:pPr>
              <a:defRPr sz="1950" b="0">
                <a:solidFill>
                  <a:srgbClr val="253748"/>
                </a:solidFill>
                <a:latin typeface="Arial"/>
                <a:ea typeface="Arial"/>
                <a:cs typeface="Arial"/>
              </a:defRPr>
            </a:pPr>
            <a:r>
              <a:rPr sz="1950" b="0">
                <a:solidFill>
                  <a:srgbClr val="253748"/>
                </a:solidFill>
                <a:latin typeface="Arial"/>
                <a:ea typeface="Arial"/>
                <a:cs typeface="Arial"/>
              </a:rPr>
              <a:t>Resolver consultas L1 de su módulo.</a:t>
            </a:r>
          </a:p>
        </p:txBody>
      </p:sp>
      <p:sp>
        <p:nvSpPr>
          <p:cNvPr id="9" name="">
            <a:extLst xmlns:a="http://schemas.openxmlformats.org/drawingml/2006/main">
              <a:ext uri="{FF2B5EF4-FFF2-40B4-BE49-F238E27FC236}">
                <a16:creationId xmlns:a16="http://schemas.microsoft.com/office/drawing/2014/main" id="{FC5A24FE-4F7F-4508-ABB5-02566AA70DAC}"/>
              </a:ext>
            </a:extLst>
          </p:cNvPr>
          <p:cNvSpPr>
            <a:spLocks xmlns:a="http://schemas.openxmlformats.org/drawingml/2006/main" noGrp="1"/>
          </p:cNvSpPr>
          <p:nvPr/>
        </p:nvSpPr>
        <p:spPr>
          <a:xfrm xmlns:a="http://schemas.openxmlformats.org/drawingml/2006/main">
            <a:off x="6305550" y="18192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9334C"/>
                </a:solidFill>
                <a:latin typeface="Arial"/>
                <a:ea typeface="Arial"/>
                <a:cs typeface="Arial"/>
              </a:defRPr>
            </a:defPPr>
            <a:lvl1pPr>
              <a:defRPr sz="2175" b="1">
                <a:solidFill>
                  <a:srgbClr val="19334C"/>
                </a:solidFill>
                <a:latin typeface="Arial"/>
                <a:ea typeface="Arial"/>
                <a:cs typeface="Arial"/>
              </a:defRPr>
            </a:lvl1pPr>
            <a:lvl2pPr>
              <a:defRPr sz="2175" b="1">
                <a:solidFill>
                  <a:srgbClr val="19334C"/>
                </a:solidFill>
                <a:latin typeface="Arial"/>
                <a:ea typeface="Arial"/>
                <a:cs typeface="Arial"/>
              </a:defRPr>
            </a:lvl2pPr>
            <a:lvl3pPr>
              <a:defRPr sz="2175" b="1">
                <a:solidFill>
                  <a:srgbClr val="19334C"/>
                </a:solidFill>
                <a:latin typeface="Arial"/>
                <a:ea typeface="Arial"/>
                <a:cs typeface="Arial"/>
              </a:defRPr>
            </a:lvl3pPr>
            <a:lvl4pPr>
              <a:defRPr sz="2175" b="1">
                <a:solidFill>
                  <a:srgbClr val="19334C"/>
                </a:solidFill>
                <a:latin typeface="Arial"/>
                <a:ea typeface="Arial"/>
                <a:cs typeface="Arial"/>
              </a:defRPr>
            </a:lvl4pPr>
            <a:lvl5pPr>
              <a:defRPr sz="2175" b="1">
                <a:solidFill>
                  <a:srgbClr val="19334C"/>
                </a:solidFill>
                <a:latin typeface="Arial"/>
                <a:ea typeface="Arial"/>
                <a:cs typeface="Arial"/>
              </a:defRPr>
            </a:lvl5pPr>
            <a:lvl6pPr>
              <a:defRPr sz="2175" b="1">
                <a:solidFill>
                  <a:srgbClr val="19334C"/>
                </a:solidFill>
                <a:latin typeface="Arial"/>
                <a:ea typeface="Arial"/>
                <a:cs typeface="Arial"/>
              </a:defRPr>
            </a:lvl6pPr>
            <a:lvl7pPr>
              <a:defRPr sz="2175" b="1">
                <a:solidFill>
                  <a:srgbClr val="19334C"/>
                </a:solidFill>
                <a:latin typeface="Arial"/>
                <a:ea typeface="Arial"/>
                <a:cs typeface="Arial"/>
              </a:defRPr>
            </a:lvl7pPr>
            <a:lvl8pPr>
              <a:defRPr sz="2175" b="1">
                <a:solidFill>
                  <a:srgbClr val="19334C"/>
                </a:solidFill>
                <a:latin typeface="Arial"/>
                <a:ea typeface="Arial"/>
                <a:cs typeface="Arial"/>
              </a:defRPr>
            </a:lvl8pPr>
            <a:lvl9pPr>
              <a:defRPr sz="2175" b="1">
                <a:solidFill>
                  <a:srgbClr val="19334C"/>
                </a:solidFill>
                <a:latin typeface="Arial"/>
                <a:ea typeface="Arial"/>
                <a:cs typeface="Arial"/>
              </a:defRPr>
            </a:lvl9pPr>
          </a:lstStyle>
          <a:p xmlns:a="http://schemas.openxmlformats.org/drawingml/2006/main">
            <a:pPr>
              <a:defRPr sz="2175" b="1">
                <a:solidFill>
                  <a:srgbClr val="19334C"/>
                </a:solidFill>
                <a:latin typeface="Arial"/>
                <a:ea typeface="Arial"/>
                <a:cs typeface="Arial"/>
              </a:defRPr>
            </a:pPr>
            <a:r>
              <a:rPr sz="2175" b="1">
                <a:solidFill>
                  <a:srgbClr val="19334C"/>
                </a:solidFill>
                <a:latin typeface="Arial"/>
                <a:ea typeface="Arial"/>
                <a:cs typeface="Arial"/>
              </a:rPr>
              <a:t>Tiene que saber y asumir</a:t>
            </a:r>
          </a:p>
        </p:txBody>
      </p:sp>
      <p:sp>
        <p:nvSpPr>
          <p:cNvPr id="10" name="">
            <a:extLst xmlns:a="http://schemas.openxmlformats.org/drawingml/2006/main">
              <a:ext uri="{FF2B5EF4-FFF2-40B4-BE49-F238E27FC236}">
                <a16:creationId xmlns:a16="http://schemas.microsoft.com/office/drawing/2014/main" id="{5AC47BE6-568D-4E72-95F6-511D0AE67D57}"/>
              </a:ext>
            </a:extLst>
          </p:cNvPr>
          <p:cNvSpPr>
            <a:spLocks xmlns:a="http://schemas.openxmlformats.org/drawingml/2006/main" noGrp="1"/>
          </p:cNvSpPr>
          <p:nvPr/>
        </p:nvSpPr>
        <p:spPr>
          <a:xfrm xmlns:a="http://schemas.openxmlformats.org/drawingml/2006/main">
            <a:off x="6305550" y="2438400"/>
            <a:ext cx="5219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253748"/>
                </a:solidFill>
                <a:latin typeface="Arial"/>
                <a:ea typeface="Arial"/>
                <a:cs typeface="Arial"/>
              </a:defRPr>
            </a:defPPr>
            <a:lvl1pPr>
              <a:defRPr sz="1950" b="0">
                <a:solidFill>
                  <a:srgbClr val="253748"/>
                </a:solidFill>
                <a:latin typeface="Arial"/>
                <a:ea typeface="Arial"/>
                <a:cs typeface="Arial"/>
              </a:defRPr>
            </a:lvl1pPr>
            <a:lvl2pPr>
              <a:defRPr sz="1950" b="0">
                <a:solidFill>
                  <a:srgbClr val="253748"/>
                </a:solidFill>
                <a:latin typeface="Arial"/>
                <a:ea typeface="Arial"/>
                <a:cs typeface="Arial"/>
              </a:defRPr>
            </a:lvl2pPr>
            <a:lvl3pPr>
              <a:defRPr sz="1950" b="0">
                <a:solidFill>
                  <a:srgbClr val="253748"/>
                </a:solidFill>
                <a:latin typeface="Arial"/>
                <a:ea typeface="Arial"/>
                <a:cs typeface="Arial"/>
              </a:defRPr>
            </a:lvl3pPr>
            <a:lvl4pPr>
              <a:defRPr sz="1950" b="0">
                <a:solidFill>
                  <a:srgbClr val="253748"/>
                </a:solidFill>
                <a:latin typeface="Arial"/>
                <a:ea typeface="Arial"/>
                <a:cs typeface="Arial"/>
              </a:defRPr>
            </a:lvl4pPr>
            <a:lvl5pPr>
              <a:defRPr sz="1950" b="0">
                <a:solidFill>
                  <a:srgbClr val="253748"/>
                </a:solidFill>
                <a:latin typeface="Arial"/>
                <a:ea typeface="Arial"/>
                <a:cs typeface="Arial"/>
              </a:defRPr>
            </a:lvl5pPr>
            <a:lvl6pPr>
              <a:defRPr sz="1950" b="0">
                <a:solidFill>
                  <a:srgbClr val="253748"/>
                </a:solidFill>
                <a:latin typeface="Arial"/>
                <a:ea typeface="Arial"/>
                <a:cs typeface="Arial"/>
              </a:defRPr>
            </a:lvl6pPr>
            <a:lvl7pPr>
              <a:defRPr sz="1950" b="0">
                <a:solidFill>
                  <a:srgbClr val="253748"/>
                </a:solidFill>
                <a:latin typeface="Arial"/>
                <a:ea typeface="Arial"/>
                <a:cs typeface="Arial"/>
              </a:defRPr>
            </a:lvl7pPr>
            <a:lvl8pPr>
              <a:defRPr sz="1950" b="0">
                <a:solidFill>
                  <a:srgbClr val="253748"/>
                </a:solidFill>
                <a:latin typeface="Arial"/>
                <a:ea typeface="Arial"/>
                <a:cs typeface="Arial"/>
              </a:defRPr>
            </a:lvl8pPr>
            <a:lvl9pPr>
              <a:defRPr sz="1950" b="0">
                <a:solidFill>
                  <a:srgbClr val="253748"/>
                </a:solidFill>
                <a:latin typeface="Arial"/>
                <a:ea typeface="Arial"/>
                <a:cs typeface="Arial"/>
              </a:defRPr>
            </a:lvl9pPr>
          </a:lstStyle>
          <a:p xmlns:a="http://schemas.openxmlformats.org/drawingml/2006/main">
            <a:pPr>
              <a:defRPr sz="1950" b="0">
                <a:solidFill>
                  <a:srgbClr val="253748"/>
                </a:solidFill>
                <a:latin typeface="Arial"/>
                <a:ea typeface="Arial"/>
                <a:cs typeface="Arial"/>
              </a:defRPr>
            </a:pPr>
            <a:r>
              <a:rPr sz="1950" b="0">
                <a:solidFill>
                  <a:srgbClr val="253748"/>
                </a:solidFill>
                <a:latin typeface="Arial"/>
                <a:ea typeface="Arial"/>
                <a:cs typeface="Arial"/>
              </a:rPr>
              <a:t>Explicar entradas, reglas y controles.</a:t>
            </a:r>
          </a:p>
        </p:txBody>
      </p:sp>
      <p:sp>
        <p:nvSpPr>
          <p:cNvPr id="11" name="">
            <a:extLst xmlns:a="http://schemas.openxmlformats.org/drawingml/2006/main">
              <a:ext uri="{FF2B5EF4-FFF2-40B4-BE49-F238E27FC236}">
                <a16:creationId xmlns:a16="http://schemas.microsoft.com/office/drawing/2014/main" id="{2FE6A9B4-974A-4338-8AB1-82A6E72B8EF7}"/>
              </a:ext>
            </a:extLst>
          </p:cNvPr>
          <p:cNvSpPr>
            <a:spLocks xmlns:a="http://schemas.openxmlformats.org/drawingml/2006/main" noGrp="1"/>
          </p:cNvSpPr>
          <p:nvPr/>
        </p:nvSpPr>
        <p:spPr>
          <a:xfrm xmlns:a="http://schemas.openxmlformats.org/drawingml/2006/main">
            <a:off x="6305550" y="3228975"/>
            <a:ext cx="5219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253748"/>
                </a:solidFill>
                <a:latin typeface="Arial"/>
                <a:ea typeface="Arial"/>
                <a:cs typeface="Arial"/>
              </a:defRPr>
            </a:defPPr>
            <a:lvl1pPr>
              <a:defRPr sz="1950" b="0">
                <a:solidFill>
                  <a:srgbClr val="253748"/>
                </a:solidFill>
                <a:latin typeface="Arial"/>
                <a:ea typeface="Arial"/>
                <a:cs typeface="Arial"/>
              </a:defRPr>
            </a:lvl1pPr>
            <a:lvl2pPr>
              <a:defRPr sz="1950" b="0">
                <a:solidFill>
                  <a:srgbClr val="253748"/>
                </a:solidFill>
                <a:latin typeface="Arial"/>
                <a:ea typeface="Arial"/>
                <a:cs typeface="Arial"/>
              </a:defRPr>
            </a:lvl2pPr>
            <a:lvl3pPr>
              <a:defRPr sz="1950" b="0">
                <a:solidFill>
                  <a:srgbClr val="253748"/>
                </a:solidFill>
                <a:latin typeface="Arial"/>
                <a:ea typeface="Arial"/>
                <a:cs typeface="Arial"/>
              </a:defRPr>
            </a:lvl3pPr>
            <a:lvl4pPr>
              <a:defRPr sz="1950" b="0">
                <a:solidFill>
                  <a:srgbClr val="253748"/>
                </a:solidFill>
                <a:latin typeface="Arial"/>
                <a:ea typeface="Arial"/>
                <a:cs typeface="Arial"/>
              </a:defRPr>
            </a:lvl4pPr>
            <a:lvl5pPr>
              <a:defRPr sz="1950" b="0">
                <a:solidFill>
                  <a:srgbClr val="253748"/>
                </a:solidFill>
                <a:latin typeface="Arial"/>
                <a:ea typeface="Arial"/>
                <a:cs typeface="Arial"/>
              </a:defRPr>
            </a:lvl5pPr>
            <a:lvl6pPr>
              <a:defRPr sz="1950" b="0">
                <a:solidFill>
                  <a:srgbClr val="253748"/>
                </a:solidFill>
                <a:latin typeface="Arial"/>
                <a:ea typeface="Arial"/>
                <a:cs typeface="Arial"/>
              </a:defRPr>
            </a:lvl6pPr>
            <a:lvl7pPr>
              <a:defRPr sz="1950" b="0">
                <a:solidFill>
                  <a:srgbClr val="253748"/>
                </a:solidFill>
                <a:latin typeface="Arial"/>
                <a:ea typeface="Arial"/>
                <a:cs typeface="Arial"/>
              </a:defRPr>
            </a:lvl7pPr>
            <a:lvl8pPr>
              <a:defRPr sz="1950" b="0">
                <a:solidFill>
                  <a:srgbClr val="253748"/>
                </a:solidFill>
                <a:latin typeface="Arial"/>
                <a:ea typeface="Arial"/>
                <a:cs typeface="Arial"/>
              </a:defRPr>
            </a:lvl8pPr>
            <a:lvl9pPr>
              <a:defRPr sz="1950" b="0">
                <a:solidFill>
                  <a:srgbClr val="253748"/>
                </a:solidFill>
                <a:latin typeface="Arial"/>
                <a:ea typeface="Arial"/>
                <a:cs typeface="Arial"/>
              </a:defRPr>
            </a:lvl9pPr>
          </a:lstStyle>
          <a:p xmlns:a="http://schemas.openxmlformats.org/drawingml/2006/main">
            <a:pPr>
              <a:defRPr sz="1950" b="0">
                <a:solidFill>
                  <a:srgbClr val="253748"/>
                </a:solidFill>
                <a:latin typeface="Arial"/>
                <a:ea typeface="Arial"/>
                <a:cs typeface="Arial"/>
              </a:defRPr>
            </a:pPr>
            <a:r>
              <a:rPr sz="1950" b="0">
                <a:solidFill>
                  <a:srgbClr val="253748"/>
                </a:solidFill>
                <a:latin typeface="Arial"/>
                <a:ea typeface="Arial"/>
                <a:cs typeface="Arial"/>
              </a:rPr>
              <a:t>Detectar y escalar una excepción.</a:t>
            </a:r>
          </a:p>
        </p:txBody>
      </p:sp>
      <p:sp>
        <p:nvSpPr>
          <p:cNvPr id="12" name="">
            <a:extLst xmlns:a="http://schemas.openxmlformats.org/drawingml/2006/main">
              <a:ext uri="{FF2B5EF4-FFF2-40B4-BE49-F238E27FC236}">
                <a16:creationId xmlns:a16="http://schemas.microsoft.com/office/drawing/2014/main" id="{FA4A26CA-FED5-409E-84E7-A0BE9BEC2B1D}"/>
              </a:ext>
            </a:extLst>
          </p:cNvPr>
          <p:cNvSpPr>
            <a:spLocks xmlns:a="http://schemas.openxmlformats.org/drawingml/2006/main" noGrp="1"/>
          </p:cNvSpPr>
          <p:nvPr/>
        </p:nvSpPr>
        <p:spPr>
          <a:xfrm xmlns:a="http://schemas.openxmlformats.org/drawingml/2006/main">
            <a:off x="6305550" y="4019550"/>
            <a:ext cx="5219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253748"/>
                </a:solidFill>
                <a:latin typeface="Arial"/>
                <a:ea typeface="Arial"/>
                <a:cs typeface="Arial"/>
              </a:defRPr>
            </a:defPPr>
            <a:lvl1pPr>
              <a:defRPr sz="1950" b="0">
                <a:solidFill>
                  <a:srgbClr val="253748"/>
                </a:solidFill>
                <a:latin typeface="Arial"/>
                <a:ea typeface="Arial"/>
                <a:cs typeface="Arial"/>
              </a:defRPr>
            </a:lvl1pPr>
            <a:lvl2pPr>
              <a:defRPr sz="1950" b="0">
                <a:solidFill>
                  <a:srgbClr val="253748"/>
                </a:solidFill>
                <a:latin typeface="Arial"/>
                <a:ea typeface="Arial"/>
                <a:cs typeface="Arial"/>
              </a:defRPr>
            </a:lvl2pPr>
            <a:lvl3pPr>
              <a:defRPr sz="1950" b="0">
                <a:solidFill>
                  <a:srgbClr val="253748"/>
                </a:solidFill>
                <a:latin typeface="Arial"/>
                <a:ea typeface="Arial"/>
                <a:cs typeface="Arial"/>
              </a:defRPr>
            </a:lvl3pPr>
            <a:lvl4pPr>
              <a:defRPr sz="1950" b="0">
                <a:solidFill>
                  <a:srgbClr val="253748"/>
                </a:solidFill>
                <a:latin typeface="Arial"/>
                <a:ea typeface="Arial"/>
                <a:cs typeface="Arial"/>
              </a:defRPr>
            </a:lvl4pPr>
            <a:lvl5pPr>
              <a:defRPr sz="1950" b="0">
                <a:solidFill>
                  <a:srgbClr val="253748"/>
                </a:solidFill>
                <a:latin typeface="Arial"/>
                <a:ea typeface="Arial"/>
                <a:cs typeface="Arial"/>
              </a:defRPr>
            </a:lvl5pPr>
            <a:lvl6pPr>
              <a:defRPr sz="1950" b="0">
                <a:solidFill>
                  <a:srgbClr val="253748"/>
                </a:solidFill>
                <a:latin typeface="Arial"/>
                <a:ea typeface="Arial"/>
                <a:cs typeface="Arial"/>
              </a:defRPr>
            </a:lvl6pPr>
            <a:lvl7pPr>
              <a:defRPr sz="1950" b="0">
                <a:solidFill>
                  <a:srgbClr val="253748"/>
                </a:solidFill>
                <a:latin typeface="Arial"/>
                <a:ea typeface="Arial"/>
                <a:cs typeface="Arial"/>
              </a:defRPr>
            </a:lvl7pPr>
            <a:lvl8pPr>
              <a:defRPr sz="1950" b="0">
                <a:solidFill>
                  <a:srgbClr val="253748"/>
                </a:solidFill>
                <a:latin typeface="Arial"/>
                <a:ea typeface="Arial"/>
                <a:cs typeface="Arial"/>
              </a:defRPr>
            </a:lvl8pPr>
            <a:lvl9pPr>
              <a:defRPr sz="1950" b="0">
                <a:solidFill>
                  <a:srgbClr val="253748"/>
                </a:solidFill>
                <a:latin typeface="Arial"/>
                <a:ea typeface="Arial"/>
                <a:cs typeface="Arial"/>
              </a:defRPr>
            </a:lvl9pPr>
          </a:lstStyle>
          <a:p xmlns:a="http://schemas.openxmlformats.org/drawingml/2006/main">
            <a:pPr>
              <a:defRPr sz="1950" b="0">
                <a:solidFill>
                  <a:srgbClr val="253748"/>
                </a:solidFill>
                <a:latin typeface="Arial"/>
                <a:ea typeface="Arial"/>
                <a:cs typeface="Arial"/>
              </a:defRPr>
            </a:pPr>
            <a:r>
              <a:rPr sz="1950" b="0">
                <a:solidFill>
                  <a:srgbClr val="253748"/>
                </a:solidFill>
                <a:latin typeface="Arial"/>
                <a:ea typeface="Arial"/>
                <a:cs typeface="Arial"/>
              </a:rPr>
              <a:t>Trabajar con un suplente preparado.</a:t>
            </a:r>
          </a:p>
        </p:txBody>
      </p:sp>
      <p:sp>
        <p:nvSpPr>
          <p:cNvPr id="13" name="">
            <a:extLst xmlns:a="http://schemas.openxmlformats.org/drawingml/2006/main">
              <a:ext uri="{FF2B5EF4-FFF2-40B4-BE49-F238E27FC236}">
                <a16:creationId xmlns:a16="http://schemas.microsoft.com/office/drawing/2014/main" id="{F4E88445-A944-4766-B08F-CA50E5E073D3}"/>
              </a:ext>
            </a:extLst>
          </p:cNvPr>
          <p:cNvSpPr>
            <a:spLocks xmlns:a="http://schemas.openxmlformats.org/drawingml/2006/main" noGrp="1"/>
          </p:cNvSpPr>
          <p:nvPr/>
        </p:nvSpPr>
        <p:spPr>
          <a:xfrm xmlns:a="http://schemas.openxmlformats.org/drawingml/2006/main">
            <a:off x="6305550" y="4810125"/>
            <a:ext cx="5219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253748"/>
                </a:solidFill>
                <a:latin typeface="Arial"/>
                <a:ea typeface="Arial"/>
                <a:cs typeface="Arial"/>
              </a:defRPr>
            </a:defPPr>
            <a:lvl1pPr>
              <a:defRPr sz="1950" b="0">
                <a:solidFill>
                  <a:srgbClr val="253748"/>
                </a:solidFill>
                <a:latin typeface="Arial"/>
                <a:ea typeface="Arial"/>
                <a:cs typeface="Arial"/>
              </a:defRPr>
            </a:lvl1pPr>
            <a:lvl2pPr>
              <a:defRPr sz="1950" b="0">
                <a:solidFill>
                  <a:srgbClr val="253748"/>
                </a:solidFill>
                <a:latin typeface="Arial"/>
                <a:ea typeface="Arial"/>
                <a:cs typeface="Arial"/>
              </a:defRPr>
            </a:lvl2pPr>
            <a:lvl3pPr>
              <a:defRPr sz="1950" b="0">
                <a:solidFill>
                  <a:srgbClr val="253748"/>
                </a:solidFill>
                <a:latin typeface="Arial"/>
                <a:ea typeface="Arial"/>
                <a:cs typeface="Arial"/>
              </a:defRPr>
            </a:lvl3pPr>
            <a:lvl4pPr>
              <a:defRPr sz="1950" b="0">
                <a:solidFill>
                  <a:srgbClr val="253748"/>
                </a:solidFill>
                <a:latin typeface="Arial"/>
                <a:ea typeface="Arial"/>
                <a:cs typeface="Arial"/>
              </a:defRPr>
            </a:lvl4pPr>
            <a:lvl5pPr>
              <a:defRPr sz="1950" b="0">
                <a:solidFill>
                  <a:srgbClr val="253748"/>
                </a:solidFill>
                <a:latin typeface="Arial"/>
                <a:ea typeface="Arial"/>
                <a:cs typeface="Arial"/>
              </a:defRPr>
            </a:lvl5pPr>
            <a:lvl6pPr>
              <a:defRPr sz="1950" b="0">
                <a:solidFill>
                  <a:srgbClr val="253748"/>
                </a:solidFill>
                <a:latin typeface="Arial"/>
                <a:ea typeface="Arial"/>
                <a:cs typeface="Arial"/>
              </a:defRPr>
            </a:lvl6pPr>
            <a:lvl7pPr>
              <a:defRPr sz="1950" b="0">
                <a:solidFill>
                  <a:srgbClr val="253748"/>
                </a:solidFill>
                <a:latin typeface="Arial"/>
                <a:ea typeface="Arial"/>
                <a:cs typeface="Arial"/>
              </a:defRPr>
            </a:lvl7pPr>
            <a:lvl8pPr>
              <a:defRPr sz="1950" b="0">
                <a:solidFill>
                  <a:srgbClr val="253748"/>
                </a:solidFill>
                <a:latin typeface="Arial"/>
                <a:ea typeface="Arial"/>
                <a:cs typeface="Arial"/>
              </a:defRPr>
            </a:lvl8pPr>
            <a:lvl9pPr>
              <a:defRPr sz="1950" b="0">
                <a:solidFill>
                  <a:srgbClr val="253748"/>
                </a:solidFill>
                <a:latin typeface="Arial"/>
                <a:ea typeface="Arial"/>
                <a:cs typeface="Arial"/>
              </a:defRPr>
            </a:lvl9pPr>
          </a:lstStyle>
          <a:p xmlns:a="http://schemas.openxmlformats.org/drawingml/2006/main">
            <a:pPr>
              <a:defRPr sz="1950" b="0">
                <a:solidFill>
                  <a:srgbClr val="253748"/>
                </a:solidFill>
                <a:latin typeface="Arial"/>
                <a:ea typeface="Arial"/>
                <a:cs typeface="Arial"/>
              </a:defRPr>
            </a:pPr>
            <a:r>
              <a:rPr sz="1950" b="0">
                <a:solidFill>
                  <a:srgbClr val="253748"/>
                </a:solidFill>
                <a:latin typeface="Arial"/>
                <a:ea typeface="Arial"/>
                <a:cs typeface="Arial"/>
              </a:rPr>
              <a:t>Sostener el proceso después del proyecto.</a:t>
            </a:r>
          </a:p>
        </p:txBody>
      </p:sp>
    </p:spTree>
    <p:extLst>
      <p:ext uri="{BB962C8B-B14F-4D97-AF65-F5344CB8AC3E}">
        <p14:creationId xmlns:p14="http://schemas.microsoft.com/office/powerpoint/2010/main" val="1693564249"/>
      </p:ext>
    </p:extLst>
  </p:cSld>
</p:sld>
</file>

<file path=ppt/slides/slide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F08D54-5A35-48DE-871A-EA1B184AF55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El WBS vincula tareas, responsables y evidencia</a:t>
            </a:r>
          </a:p>
        </p:txBody>
      </p:sp>
      <p:sp>
        <p:nvSpPr>
          <p:cNvPr id="2" name="">
            <a:extLst xmlns:a="http://schemas.openxmlformats.org/drawingml/2006/main">
              <a:ext uri="{FF2B5EF4-FFF2-40B4-BE49-F238E27FC236}">
                <a16:creationId xmlns:a16="http://schemas.microsoft.com/office/drawing/2014/main" id="{DE1D537C-FE26-4D30-8333-2C2A1353E652}"/>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34CBC2A-0905-4364-82B2-8A820B345827}"/>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F0158069-1C6E-4EE8-8ED5-FF7EEE8EDD9B}"/>
              </a:ext>
            </a:extLst>
          </p:cNvPr>
          <p:cNvGraphicFramePr/>
          <p:nvPr/>
        </p:nvGraphicFramePr>
        <p:xfrm>
          <a:off xmlns:a="http://schemas.openxmlformats.org/drawingml/2006/main" x="609600" y="1762125"/>
          <a:ext xmlns:a="http://schemas.openxmlformats.org/drawingml/2006/main" cx="10972800" cy="4191000"/>
        </p:xfrm>
        <a:graphic xmlns:a="http://schemas.openxmlformats.org/drawingml/2006/main">
          <a:graphicData uri="http://schemas.openxmlformats.org/drawingml/2006/table">
            <a:tbl>
              <a:tblPr/>
              <a:tblGrid>
                <a:gridCol w="5524500"/>
                <a:gridCol w="2762250"/>
                <a:gridCol w="2686050"/>
              </a:tblGrid>
              <a:tr h="598714">
                <a:tc>
                  <a:txBody>
                    <a:bodyPr wrap="square" lIns="114300" tIns="76200" rIns="114300" bIns="76200">
                      <a:noAutofit/>
                    </a:bodyPr>
                    <a:lstStyle/>
                    <a:p>
                      <a:r>
                        <a:rPr sz="1725" b="1">
                          <a:solidFill>
                            <a:srgbClr val="FFFFFF"/>
                          </a:solidFill>
                          <a:latin typeface="Arial"/>
                          <a:ea typeface="Arial"/>
                          <a:cs typeface="Arial"/>
                        </a:rPr>
                        <a:t>Secuencia del módulo</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725" b="1">
                          <a:solidFill>
                            <a:srgbClr val="FFFFFF"/>
                          </a:solidFill>
                          <a:latin typeface="Arial"/>
                          <a:ea typeface="Arial"/>
                          <a:cs typeface="Arial"/>
                        </a:rPr>
                        <a:t>Ejecuta</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725" b="1">
                          <a:solidFill>
                            <a:srgbClr val="FFFFFF"/>
                          </a:solidFill>
                          <a:latin typeface="Arial"/>
                          <a:ea typeface="Arial"/>
                          <a:cs typeface="Arial"/>
                        </a:rPr>
                        <a:t>Acepta / responde</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r>
              <a:tr h="598714">
                <a:tc>
                  <a:txBody>
                    <a:bodyPr wrap="square" lIns="114300" tIns="76200" rIns="114300" bIns="76200">
                      <a:noAutofit/>
                    </a:bodyPr>
                    <a:lstStyle/>
                    <a:p>
                      <a:r>
                        <a:rPr sz="1725" b="0">
                          <a:solidFill>
                            <a:srgbClr val="253748"/>
                          </a:solidFill>
                          <a:latin typeface="Arial"/>
                          <a:ea typeface="Arial"/>
                          <a:cs typeface="Arial"/>
                        </a:rPr>
                        <a:t>Preparar casos y datos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Referente DIARCO</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Dueño del proceso</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598714">
                <a:tc>
                  <a:txBody>
                    <a:bodyPr wrap="square" lIns="114300" tIns="76200" rIns="114300" bIns="76200">
                      <a:noAutofit/>
                    </a:bodyPr>
                    <a:lstStyle/>
                    <a:p>
                      <a:r>
                        <a:rPr sz="1725" b="0">
                          <a:solidFill>
                            <a:srgbClr val="253748"/>
                          </a:solidFill>
                          <a:latin typeface="Arial"/>
                          <a:ea typeface="Arial"/>
                          <a:cs typeface="Arial"/>
                        </a:rPr>
                        <a:t>Validar reglas y configuración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Referente DIARCO</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Dueño del proceso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598714">
                <a:tc>
                  <a:txBody>
                    <a:bodyPr wrap="square" lIns="114300" tIns="76200" rIns="114300" bIns="76200">
                      <a:noAutofit/>
                    </a:bodyPr>
                    <a:lstStyle/>
                    <a:p>
                      <a:r>
                        <a:rPr sz="1725" b="0">
                          <a:solidFill>
                            <a:srgbClr val="253748"/>
                          </a:solidFill>
                          <a:latin typeface="Arial"/>
                          <a:ea typeface="Arial"/>
                          <a:cs typeface="Arial"/>
                        </a:rPr>
                        <a:t>Formar titular y suplente</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Funcional Zeetrex</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Líder Zeetrex</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598714">
                <a:tc>
                  <a:txBody>
                    <a:bodyPr wrap="square" lIns="114300" tIns="76200" rIns="114300" bIns="76200">
                      <a:noAutofit/>
                    </a:bodyPr>
                    <a:lstStyle/>
                    <a:p>
                      <a:r>
                        <a:rPr sz="1725" b="0">
                          <a:solidFill>
                            <a:srgbClr val="253748"/>
                          </a:solidFill>
                          <a:latin typeface="Arial"/>
                          <a:ea typeface="Arial"/>
                          <a:cs typeface="Arial"/>
                        </a:rPr>
                        <a:t>Ejecutar UAT y excepciones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Referente + usuarios</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Dueño del proceso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598714">
                <a:tc>
                  <a:txBody>
                    <a:bodyPr wrap="square" lIns="114300" tIns="76200" rIns="114300" bIns="76200">
                      <a:noAutofit/>
                    </a:bodyPr>
                    <a:lstStyle/>
                    <a:p>
                      <a:r>
                        <a:rPr sz="1725" b="0">
                          <a:solidFill>
                            <a:srgbClr val="253748"/>
                          </a:solidFill>
                          <a:latin typeface="Arial"/>
                          <a:ea typeface="Arial"/>
                          <a:cs typeface="Arial"/>
                        </a:rPr>
                        <a:t>Comparar en paralelo y reprobar</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DIARCO + Zeetrex</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Dueño del proceso</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598714">
                <a:tc>
                  <a:txBody>
                    <a:bodyPr wrap="square" lIns="114300" tIns="76200" rIns="114300" bIns="76200">
                      <a:noAutofit/>
                    </a:bodyPr>
                    <a:lstStyle/>
                    <a:p>
                      <a:r>
                        <a:rPr sz="1725" b="0">
                          <a:solidFill>
                            <a:srgbClr val="253748"/>
                          </a:solidFill>
                          <a:latin typeface="Arial"/>
                          <a:ea typeface="Arial"/>
                          <a:cs typeface="Arial"/>
                        </a:rPr>
                        <a:t>Transferir y recomendar expansión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Referente DIARCO</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Dueño del proceso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bl>
          </a:graphicData>
        </a:graphic>
      </p:graphicFrame>
    </p:spTree>
    <p:extLst>
      <p:ext uri="{BB962C8B-B14F-4D97-AF65-F5344CB8AC3E}">
        <p14:creationId xmlns:p14="http://schemas.microsoft.com/office/powerpoint/2010/main" val="212758249"/>
      </p:ext>
    </p:extLst>
  </p:cSld>
</p:sld>
</file>

<file path=ppt/slides/slide1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CF4B80-D1D7-44B4-8AA9-96CCF9291210}"/>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La capacitación debe demostrar autonomía</a:t>
            </a:r>
          </a:p>
        </p:txBody>
      </p:sp>
      <p:sp>
        <p:nvSpPr>
          <p:cNvPr id="2" name="">
            <a:extLst xmlns:a="http://schemas.openxmlformats.org/drawingml/2006/main">
              <a:ext uri="{FF2B5EF4-FFF2-40B4-BE49-F238E27FC236}">
                <a16:creationId xmlns:a16="http://schemas.microsoft.com/office/drawing/2014/main" id="{A9DDE44B-A973-4D8C-A717-C9C92CAB1C24}"/>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CCE6B53-C50B-4B6E-BAFB-50D05AF0C4AF}"/>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83E38428-0CD8-4833-9B4B-668FCD5722F5}"/>
              </a:ext>
            </a:extLst>
          </p:cNvPr>
          <p:cNvSpPr>
            <a:spLocks xmlns:a="http://schemas.openxmlformats.org/drawingml/2006/main" noGrp="1"/>
          </p:cNvSpPr>
          <p:nvPr/>
        </p:nvSpPr>
        <p:spPr>
          <a:xfrm xmlns:a="http://schemas.openxmlformats.org/drawingml/2006/main">
            <a:off x="609600" y="1809750"/>
            <a:ext cx="1085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1. Zeetrex demuestra el circuito y sus controles.</a:t>
            </a:r>
          </a:p>
        </p:txBody>
      </p:sp>
      <p:sp>
        <p:nvSpPr>
          <p:cNvPr id="5" name="">
            <a:extLst xmlns:a="http://schemas.openxmlformats.org/drawingml/2006/main">
              <a:ext uri="{FF2B5EF4-FFF2-40B4-BE49-F238E27FC236}">
                <a16:creationId xmlns:a16="http://schemas.microsoft.com/office/drawing/2014/main" id="{DD937AAF-9E75-4A0A-97D9-984C9B7293A7}"/>
              </a:ext>
            </a:extLst>
          </p:cNvPr>
          <p:cNvSpPr>
            <a:spLocks xmlns:a="http://schemas.openxmlformats.org/drawingml/2006/main" noGrp="1"/>
          </p:cNvSpPr>
          <p:nvPr/>
        </p:nvSpPr>
        <p:spPr>
          <a:xfrm xmlns:a="http://schemas.openxmlformats.org/drawingml/2006/main">
            <a:off x="609600" y="2600325"/>
            <a:ext cx="1085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2. El referente y su suplente practican con casos reales.</a:t>
            </a:r>
          </a:p>
        </p:txBody>
      </p:sp>
      <p:sp>
        <p:nvSpPr>
          <p:cNvPr id="6" name="">
            <a:extLst xmlns:a="http://schemas.openxmlformats.org/drawingml/2006/main">
              <a:ext uri="{FF2B5EF4-FFF2-40B4-BE49-F238E27FC236}">
                <a16:creationId xmlns:a16="http://schemas.microsoft.com/office/drawing/2014/main" id="{4BFF19D3-93D1-4C81-8C05-4745D53CBB5E}"/>
              </a:ext>
            </a:extLst>
          </p:cNvPr>
          <p:cNvSpPr>
            <a:spLocks xmlns:a="http://schemas.openxmlformats.org/drawingml/2006/main" noGrp="1"/>
          </p:cNvSpPr>
          <p:nvPr/>
        </p:nvSpPr>
        <p:spPr>
          <a:xfrm xmlns:a="http://schemas.openxmlformats.org/drawingml/2006/main">
            <a:off x="609600" y="3390900"/>
            <a:ext cx="1085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3. Cada persona ejecuta las tareas críticas sin ayuda paso a paso.</a:t>
            </a:r>
          </a:p>
        </p:txBody>
      </p:sp>
      <p:sp>
        <p:nvSpPr>
          <p:cNvPr id="7" name="">
            <a:extLst xmlns:a="http://schemas.openxmlformats.org/drawingml/2006/main">
              <a:ext uri="{FF2B5EF4-FFF2-40B4-BE49-F238E27FC236}">
                <a16:creationId xmlns:a16="http://schemas.microsoft.com/office/drawing/2014/main" id="{A93D1667-6B61-42EE-A5BF-708137245891}"/>
              </a:ext>
            </a:extLst>
          </p:cNvPr>
          <p:cNvSpPr>
            <a:spLocks xmlns:a="http://schemas.openxmlformats.org/drawingml/2006/main" noGrp="1"/>
          </p:cNvSpPr>
          <p:nvPr/>
        </p:nvSpPr>
        <p:spPr>
          <a:xfrm xmlns:a="http://schemas.openxmlformats.org/drawingml/2006/main">
            <a:off x="609600" y="4181475"/>
            <a:ext cx="1085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4. El referente forma al resto y verifica la práctica.</a:t>
            </a:r>
          </a:p>
        </p:txBody>
      </p:sp>
      <p:sp>
        <p:nvSpPr>
          <p:cNvPr id="8" name="">
            <a:extLst xmlns:a="http://schemas.openxmlformats.org/drawingml/2006/main">
              <a:ext uri="{FF2B5EF4-FFF2-40B4-BE49-F238E27FC236}">
                <a16:creationId xmlns:a16="http://schemas.microsoft.com/office/drawing/2014/main" id="{82305D85-F9FC-40F4-A5CE-D6C505252106}"/>
              </a:ext>
            </a:extLst>
          </p:cNvPr>
          <p:cNvSpPr>
            <a:spLocks xmlns:a="http://schemas.openxmlformats.org/drawingml/2006/main" noGrp="1"/>
          </p:cNvSpPr>
          <p:nvPr/>
        </p:nvSpPr>
        <p:spPr>
          <a:xfrm xmlns:a="http://schemas.openxmlformats.org/drawingml/2006/main">
            <a:off x="609600" y="4972050"/>
            <a:ext cx="1085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5. Las dudas recurrentes actualizan la guía y la FAQ.</a:t>
            </a:r>
          </a:p>
        </p:txBody>
      </p:sp>
    </p:spTree>
    <p:extLst>
      <p:ext uri="{BB962C8B-B14F-4D97-AF65-F5344CB8AC3E}">
        <p14:creationId xmlns:p14="http://schemas.microsoft.com/office/powerpoint/2010/main" val="782956941"/>
      </p:ext>
    </p:extLst>
  </p:cSld>
</p:sld>
</file>

<file path=ppt/slides/slide1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9CC177-3328-47FA-90C7-5A53E901EF6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DIARCO sostiene L1 con Zeetrex como soporte especializado</a:t>
            </a:r>
          </a:p>
        </p:txBody>
      </p:sp>
      <p:sp>
        <p:nvSpPr>
          <p:cNvPr id="2" name="">
            <a:extLst xmlns:a="http://schemas.openxmlformats.org/drawingml/2006/main">
              <a:ext uri="{FF2B5EF4-FFF2-40B4-BE49-F238E27FC236}">
                <a16:creationId xmlns:a16="http://schemas.microsoft.com/office/drawing/2014/main" id="{E88DBBEF-824D-4F4C-BCEC-594A60EF3C21}"/>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7FFF11-6A2E-429F-AE0B-6559FAB9CE86}"/>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CF7A734C-BFFA-499B-83C3-83BC0E316903}"/>
              </a:ext>
            </a:extLst>
          </p:cNvPr>
          <p:cNvGraphicFramePr/>
          <p:nvPr/>
        </p:nvGraphicFramePr>
        <p:xfrm>
          <a:off xmlns:a="http://schemas.openxmlformats.org/drawingml/2006/main" x="609600" y="1762125"/>
          <a:ext xmlns:a="http://schemas.openxmlformats.org/drawingml/2006/main" cx="10972800" cy="3952875"/>
        </p:xfrm>
        <a:graphic xmlns:a="http://schemas.openxmlformats.org/drawingml/2006/main">
          <a:graphicData uri="http://schemas.openxmlformats.org/drawingml/2006/table">
            <a:tbl>
              <a:tblPr/>
              <a:tblGrid>
                <a:gridCol w="3238500"/>
                <a:gridCol w="7734300"/>
              </a:tblGrid>
              <a:tr h="658813">
                <a:tc>
                  <a:txBody>
                    <a:bodyPr wrap="square" lIns="114300" tIns="76200" rIns="114300" bIns="76200">
                      <a:noAutofit/>
                    </a:bodyPr>
                    <a:lstStyle/>
                    <a:p>
                      <a:r>
                        <a:rPr sz="1800" b="1">
                          <a:solidFill>
                            <a:srgbClr val="FFFFFF"/>
                          </a:solidFill>
                          <a:latin typeface="Arial"/>
                          <a:ea typeface="Arial"/>
                          <a:cs typeface="Arial"/>
                        </a:rPr>
                        <a:t>Actor</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800" b="1">
                          <a:solidFill>
                            <a:srgbClr val="FFFFFF"/>
                          </a:solidFill>
                          <a:latin typeface="Arial"/>
                          <a:ea typeface="Arial"/>
                          <a:cs typeface="Arial"/>
                        </a:rPr>
                        <a:t>Responsabilidad en el soporte</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r>
              <a:tr h="658813">
                <a:tc>
                  <a:txBody>
                    <a:bodyPr wrap="square" lIns="114300" tIns="76200" rIns="114300" bIns="76200">
                      <a:noAutofit/>
                    </a:bodyPr>
                    <a:lstStyle/>
                    <a:p>
                      <a:r>
                        <a:rPr sz="1800" b="0">
                          <a:solidFill>
                            <a:srgbClr val="253748"/>
                          </a:solidFill>
                          <a:latin typeface="Arial"/>
                          <a:ea typeface="Arial"/>
                          <a:cs typeface="Arial"/>
                        </a:rPr>
                        <a:t>Mesa de ayuda DIARCO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800" b="0">
                          <a:solidFill>
                            <a:srgbClr val="253748"/>
                          </a:solidFill>
                          <a:latin typeface="Arial"/>
                          <a:ea typeface="Arial"/>
                          <a:cs typeface="Arial"/>
                        </a:rPr>
                        <a:t>Registrar impacto, clasificar, comunicar y seguir el caso.</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58813">
                <a:tc>
                  <a:txBody>
                    <a:bodyPr wrap="square" lIns="114300" tIns="76200" rIns="114300" bIns="76200">
                      <a:noAutofit/>
                    </a:bodyPr>
                    <a:lstStyle/>
                    <a:p>
                      <a:r>
                        <a:rPr sz="1800" b="0">
                          <a:solidFill>
                            <a:srgbClr val="253748"/>
                          </a:solidFill>
                          <a:latin typeface="Arial"/>
                          <a:ea typeface="Arial"/>
                          <a:cs typeface="Arial"/>
                        </a:rPr>
                        <a:t>Referente funcional L1</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800" b="0">
                          <a:solidFill>
                            <a:srgbClr val="253748"/>
                          </a:solidFill>
                          <a:latin typeface="Arial"/>
                          <a:ea typeface="Arial"/>
                          <a:cs typeface="Arial"/>
                        </a:rPr>
                        <a:t>Resolver uso y reglas conocidas. Escalar errores de producto.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58813">
                <a:tc>
                  <a:txBody>
                    <a:bodyPr wrap="square" lIns="114300" tIns="76200" rIns="114300" bIns="76200">
                      <a:noAutofit/>
                    </a:bodyPr>
                    <a:lstStyle/>
                    <a:p>
                      <a:r>
                        <a:rPr sz="1800" b="0">
                          <a:solidFill>
                            <a:srgbClr val="253748"/>
                          </a:solidFill>
                          <a:latin typeface="Arial"/>
                          <a:ea typeface="Arial"/>
                          <a:cs typeface="Arial"/>
                        </a:rPr>
                        <a:t>IT DIARCO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800" b="0">
                          <a:solidFill>
                            <a:srgbClr val="253748"/>
                          </a:solidFill>
                          <a:latin typeface="Arial"/>
                          <a:ea typeface="Arial"/>
                          <a:cs typeface="Arial"/>
                        </a:rPr>
                        <a:t>Accesos, conectividad, servicios y diagnóstico local autorizado.</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58813">
                <a:tc>
                  <a:txBody>
                    <a:bodyPr wrap="square" lIns="114300" tIns="76200" rIns="114300" bIns="76200">
                      <a:noAutofit/>
                    </a:bodyPr>
                    <a:lstStyle/>
                    <a:p>
                      <a:r>
                        <a:rPr sz="1800" b="0">
                          <a:solidFill>
                            <a:srgbClr val="253748"/>
                          </a:solidFill>
                          <a:latin typeface="Arial"/>
                          <a:ea typeface="Arial"/>
                          <a:cs typeface="Arial"/>
                        </a:rPr>
                        <a:t>Zeetrex L2</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800" b="0">
                          <a:solidFill>
                            <a:srgbClr val="253748"/>
                          </a:solidFill>
                          <a:latin typeface="Arial"/>
                          <a:ea typeface="Arial"/>
                          <a:cs typeface="Arial"/>
                        </a:rPr>
                        <a:t>Diagnóstico especializado, integración y corrección controlada.</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58813">
                <a:tc>
                  <a:txBody>
                    <a:bodyPr wrap="square" lIns="114300" tIns="76200" rIns="114300" bIns="76200">
                      <a:noAutofit/>
                    </a:bodyPr>
                    <a:lstStyle/>
                    <a:p>
                      <a:r>
                        <a:rPr sz="1800" b="0">
                          <a:solidFill>
                            <a:srgbClr val="253748"/>
                          </a:solidFill>
                          <a:latin typeface="Arial"/>
                          <a:ea typeface="Arial"/>
                          <a:cs typeface="Arial"/>
                        </a:rPr>
                        <a:t>Usuario / dueño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800" b="0">
                          <a:solidFill>
                            <a:srgbClr val="253748"/>
                          </a:solidFill>
                          <a:latin typeface="Arial"/>
                          <a:ea typeface="Arial"/>
                          <a:cs typeface="Arial"/>
                        </a:rPr>
                        <a:t>Confirmar recuperación y conciliación del resultado.</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5F6C0AD-8FAD-4B59-8684-6315F974086B}"/>
              </a:ext>
            </a:extLst>
          </p:cNvPr>
          <p:cNvSpPr>
            <a:spLocks xmlns:a="http://schemas.openxmlformats.org/drawingml/2006/main" noGrp="1"/>
          </p:cNvSpPr>
          <p:nvPr/>
        </p:nvSpPr>
        <p:spPr>
          <a:xfrm xmlns:a="http://schemas.openxmlformats.org/drawingml/2006/main">
            <a:off x="609600" y="59245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BA631A"/>
                </a:solidFill>
                <a:latin typeface="Arial"/>
                <a:ea typeface="Arial"/>
                <a:cs typeface="Arial"/>
              </a:defRPr>
            </a:defPPr>
            <a:lvl1pPr>
              <a:defRPr sz="1800" b="1">
                <a:solidFill>
                  <a:srgbClr val="BA631A"/>
                </a:solidFill>
                <a:latin typeface="Arial"/>
                <a:ea typeface="Arial"/>
                <a:cs typeface="Arial"/>
              </a:defRPr>
            </a:lvl1pPr>
            <a:lvl2pPr>
              <a:defRPr sz="1800" b="1">
                <a:solidFill>
                  <a:srgbClr val="BA631A"/>
                </a:solidFill>
                <a:latin typeface="Arial"/>
                <a:ea typeface="Arial"/>
                <a:cs typeface="Arial"/>
              </a:defRPr>
            </a:lvl2pPr>
            <a:lvl3pPr>
              <a:defRPr sz="1800" b="1">
                <a:solidFill>
                  <a:srgbClr val="BA631A"/>
                </a:solidFill>
                <a:latin typeface="Arial"/>
                <a:ea typeface="Arial"/>
                <a:cs typeface="Arial"/>
              </a:defRPr>
            </a:lvl3pPr>
            <a:lvl4pPr>
              <a:defRPr sz="1800" b="1">
                <a:solidFill>
                  <a:srgbClr val="BA631A"/>
                </a:solidFill>
                <a:latin typeface="Arial"/>
                <a:ea typeface="Arial"/>
                <a:cs typeface="Arial"/>
              </a:defRPr>
            </a:lvl4pPr>
            <a:lvl5pPr>
              <a:defRPr sz="1800" b="1">
                <a:solidFill>
                  <a:srgbClr val="BA631A"/>
                </a:solidFill>
                <a:latin typeface="Arial"/>
                <a:ea typeface="Arial"/>
                <a:cs typeface="Arial"/>
              </a:defRPr>
            </a:lvl5pPr>
            <a:lvl6pPr>
              <a:defRPr sz="1800" b="1">
                <a:solidFill>
                  <a:srgbClr val="BA631A"/>
                </a:solidFill>
                <a:latin typeface="Arial"/>
                <a:ea typeface="Arial"/>
                <a:cs typeface="Arial"/>
              </a:defRPr>
            </a:lvl6pPr>
            <a:lvl7pPr>
              <a:defRPr sz="1800" b="1">
                <a:solidFill>
                  <a:srgbClr val="BA631A"/>
                </a:solidFill>
                <a:latin typeface="Arial"/>
                <a:ea typeface="Arial"/>
                <a:cs typeface="Arial"/>
              </a:defRPr>
            </a:lvl7pPr>
            <a:lvl8pPr>
              <a:defRPr sz="1800" b="1">
                <a:solidFill>
                  <a:srgbClr val="BA631A"/>
                </a:solidFill>
                <a:latin typeface="Arial"/>
                <a:ea typeface="Arial"/>
                <a:cs typeface="Arial"/>
              </a:defRPr>
            </a:lvl8pPr>
            <a:lvl9pPr>
              <a:defRPr sz="1800" b="1">
                <a:solidFill>
                  <a:srgbClr val="BA631A"/>
                </a:solidFill>
                <a:latin typeface="Arial"/>
                <a:ea typeface="Arial"/>
                <a:cs typeface="Arial"/>
              </a:defRPr>
            </a:lvl9pPr>
          </a:lstStyle>
          <a:p xmlns:a="http://schemas.openxmlformats.org/drawingml/2006/main">
            <a:pPr>
              <a:defRPr sz="1800" b="1">
                <a:solidFill>
                  <a:srgbClr val="BA631A"/>
                </a:solidFill>
                <a:latin typeface="Arial"/>
                <a:ea typeface="Arial"/>
                <a:cs typeface="Arial"/>
              </a:defRPr>
            </a:pPr>
            <a:r>
              <a:rPr sz="1800" b="1">
                <a:solidFill>
                  <a:srgbClr val="BA631A"/>
                </a:solidFill>
                <a:latin typeface="Arial"/>
                <a:ea typeface="Arial"/>
                <a:cs typeface="Arial"/>
              </a:rPr>
              <a:t>Antes del paralelo: canal, cobertura, suplentes y un simulacro de atención.</a:t>
            </a:r>
          </a:p>
        </p:txBody>
      </p:sp>
    </p:spTree>
    <p:extLst>
      <p:ext uri="{BB962C8B-B14F-4D97-AF65-F5344CB8AC3E}">
        <p14:creationId xmlns:p14="http://schemas.microsoft.com/office/powerpoint/2010/main" val="979570224"/>
      </p:ext>
    </p:extLst>
  </p:cSld>
</p:sld>
</file>

<file path=ppt/slides/slide1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F2C3F3-017D-45D0-A1B3-1F85F05BABD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El avance requiere decisiones con evidencia</a:t>
            </a:r>
          </a:p>
        </p:txBody>
      </p:sp>
      <p:sp>
        <p:nvSpPr>
          <p:cNvPr id="2" name="">
            <a:extLst xmlns:a="http://schemas.openxmlformats.org/drawingml/2006/main">
              <a:ext uri="{FF2B5EF4-FFF2-40B4-BE49-F238E27FC236}">
                <a16:creationId xmlns:a16="http://schemas.microsoft.com/office/drawing/2014/main" id="{33A7EC03-A2DA-4D0E-B7EF-6D547E6F2CFB}"/>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7FF79ED-DF6D-4000-A9FB-F8C96340C2C9}"/>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12</a:t>
            </a:r>
          </a:p>
        </p:txBody>
      </p:sp>
      <p:graphicFrame>
        <p:nvGraphicFramePr>
          <p:cNvPr id="4" name="">
            <a:extLst xmlns:a="http://schemas.openxmlformats.org/drawingml/2006/main">
              <a:ext uri="{FF2B5EF4-FFF2-40B4-BE49-F238E27FC236}">
                <a16:creationId xmlns:a16="http://schemas.microsoft.com/office/drawing/2014/main" id="{68818820-D69A-4FFD-BE53-FF58F5E7E304}"/>
              </a:ext>
            </a:extLst>
          </p:cNvPr>
          <p:cNvGraphicFramePr/>
          <p:nvPr/>
        </p:nvGraphicFramePr>
        <p:xfrm>
          <a:off xmlns:a="http://schemas.openxmlformats.org/drawingml/2006/main" x="609600" y="1762125"/>
          <a:ext xmlns:a="http://schemas.openxmlformats.org/drawingml/2006/main" cx="10972800" cy="4000500"/>
        </p:xfrm>
        <a:graphic xmlns:a="http://schemas.openxmlformats.org/drawingml/2006/main">
          <a:graphicData uri="http://schemas.openxmlformats.org/drawingml/2006/table">
            <a:tbl>
              <a:tblPr/>
              <a:tblGrid>
                <a:gridCol w="2524125"/>
                <a:gridCol w="5810250"/>
                <a:gridCol w="2638425"/>
              </a:tblGrid>
              <a:tr h="666750">
                <a:tc>
                  <a:txBody>
                    <a:bodyPr wrap="square" lIns="114300" tIns="76200" rIns="114300" bIns="76200">
                      <a:noAutofit/>
                    </a:bodyPr>
                    <a:lstStyle/>
                    <a:p>
                      <a:r>
                        <a:rPr sz="1650" b="1">
                          <a:solidFill>
                            <a:srgbClr val="FFFFFF"/>
                          </a:solidFill>
                          <a:latin typeface="Arial"/>
                          <a:ea typeface="Arial"/>
                          <a:cs typeface="Arial"/>
                        </a:rPr>
                        <a:t>Gate</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650" b="1">
                          <a:solidFill>
                            <a:srgbClr val="FFFFFF"/>
                          </a:solidFill>
                          <a:latin typeface="Arial"/>
                          <a:ea typeface="Arial"/>
                          <a:cs typeface="Arial"/>
                        </a:rPr>
                        <a:t>Evidencia requerida</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650" b="1">
                          <a:solidFill>
                            <a:srgbClr val="FFFFFF"/>
                          </a:solidFill>
                          <a:latin typeface="Arial"/>
                          <a:ea typeface="Arial"/>
                          <a:cs typeface="Arial"/>
                        </a:rPr>
                        <a:t>Quién decide</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r>
              <a:tr h="666750">
                <a:tc>
                  <a:txBody>
                    <a:bodyPr wrap="square" lIns="114300" tIns="76200" rIns="114300" bIns="76200">
                      <a:noAutofit/>
                    </a:bodyPr>
                    <a:lstStyle/>
                    <a:p>
                      <a:r>
                        <a:rPr sz="1650" b="0">
                          <a:solidFill>
                            <a:srgbClr val="253748"/>
                          </a:solidFill>
                          <a:latin typeface="Arial"/>
                          <a:ea typeface="Arial"/>
                          <a:cs typeface="Arial"/>
                        </a:rPr>
                        <a:t>G0 · Compromiso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Alcance, personas, horas, población y soporte.</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Sponsor DIARCO</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66750">
                <a:tc>
                  <a:txBody>
                    <a:bodyPr wrap="square" lIns="114300" tIns="76200" rIns="114300" bIns="76200">
                      <a:noAutofit/>
                    </a:bodyPr>
                    <a:lstStyle/>
                    <a:p>
                      <a:r>
                        <a:rPr sz="1650" b="0">
                          <a:solidFill>
                            <a:srgbClr val="253748"/>
                          </a:solidFill>
                          <a:latin typeface="Arial"/>
                          <a:ea typeface="Arial"/>
                          <a:cs typeface="Arial"/>
                        </a:rPr>
                        <a:t>G1 · Preparación / UAT</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Datos, permisos, aprendizaje y casos críticos.</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Dueño del proceso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66750">
                <a:tc>
                  <a:txBody>
                    <a:bodyPr wrap="square" lIns="114300" tIns="76200" rIns="114300" bIns="76200">
                      <a:noAutofit/>
                    </a:bodyPr>
                    <a:lstStyle/>
                    <a:p>
                      <a:r>
                        <a:rPr sz="1650" b="0">
                          <a:solidFill>
                            <a:srgbClr val="253748"/>
                          </a:solidFill>
                          <a:latin typeface="Arial"/>
                          <a:ea typeface="Arial"/>
                          <a:cs typeface="Arial"/>
                        </a:rPr>
                        <a:t>G2 · Paralelo / piloto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Ciclos, excepciones y conciliación completa.</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Sponsor con validaciones</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66750">
                <a:tc>
                  <a:txBody>
                    <a:bodyPr wrap="square" lIns="114300" tIns="76200" rIns="114300" bIns="76200">
                      <a:noAutofit/>
                    </a:bodyPr>
                    <a:lstStyle/>
                    <a:p>
                      <a:r>
                        <a:rPr sz="1650" b="0">
                          <a:solidFill>
                            <a:srgbClr val="253748"/>
                          </a:solidFill>
                          <a:latin typeface="Arial"/>
                          <a:ea typeface="Arial"/>
                          <a:cs typeface="Arial"/>
                        </a:rPr>
                        <a:t>G3 · Expansión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Usuarios, soporte, corte y contingencia.</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Sponsor DIARCO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66750">
                <a:tc>
                  <a:txBody>
                    <a:bodyPr wrap="square" lIns="114300" tIns="76200" rIns="114300" bIns="76200">
                      <a:noAutofit/>
                    </a:bodyPr>
                    <a:lstStyle/>
                    <a:p>
                      <a:r>
                        <a:rPr sz="1650" b="0">
                          <a:solidFill>
                            <a:srgbClr val="253748"/>
                          </a:solidFill>
                          <a:latin typeface="Arial"/>
                          <a:ea typeface="Arial"/>
                          <a:cs typeface="Arial"/>
                        </a:rPr>
                        <a:t>G4 · Transferencia</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Estabilidad y autonomía de DIARCO/L1.</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Sponsor con Operaciones</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Tree>
    <p:extLst>
      <p:ext uri="{BB962C8B-B14F-4D97-AF65-F5344CB8AC3E}">
        <p14:creationId xmlns:p14="http://schemas.microsoft.com/office/powerpoint/2010/main" val="1376853901"/>
      </p:ext>
    </p:extLst>
  </p:cSld>
</p:sld>
</file>

<file path=ppt/slides/slide1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6E99BB-3453-4171-9B45-FE2138AD279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La primera semana se organiza alrededor del 04/11</a:t>
            </a:r>
          </a:p>
        </p:txBody>
      </p:sp>
      <p:sp>
        <p:nvSpPr>
          <p:cNvPr id="2" name="">
            <a:extLst xmlns:a="http://schemas.openxmlformats.org/drawingml/2006/main">
              <a:ext uri="{FF2B5EF4-FFF2-40B4-BE49-F238E27FC236}">
                <a16:creationId xmlns:a16="http://schemas.microsoft.com/office/drawing/2014/main" id="{3E7F08BC-1C61-4B94-8F52-152BD2A41449}"/>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7EDD207-0225-4E6D-B913-276A703EDEA9}"/>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410AF799-C2CB-4F28-80EC-199E796CFB93}"/>
              </a:ext>
            </a:extLst>
          </p:cNvPr>
          <p:cNvGraphicFramePr/>
          <p:nvPr/>
        </p:nvGraphicFramePr>
        <p:xfrm>
          <a:off xmlns:a="http://schemas.openxmlformats.org/drawingml/2006/main" x="609600" y="1762125"/>
          <a:ext xmlns:a="http://schemas.openxmlformats.org/drawingml/2006/main" cx="10972800" cy="4000500"/>
        </p:xfrm>
        <a:graphic xmlns:a="http://schemas.openxmlformats.org/drawingml/2006/main">
          <a:graphicData uri="http://schemas.openxmlformats.org/drawingml/2006/table">
            <a:tbl>
              <a:tblPr/>
              <a:tblGrid>
                <a:gridCol w="1428750"/>
                <a:gridCol w="6191250"/>
                <a:gridCol w="3352800"/>
              </a:tblGrid>
              <a:tr h="666750">
                <a:tc>
                  <a:txBody>
                    <a:bodyPr wrap="square" lIns="114300" tIns="76200" rIns="114300" bIns="76200">
                      <a:noAutofit/>
                    </a:bodyPr>
                    <a:lstStyle/>
                    <a:p>
                      <a:r>
                        <a:rPr sz="1725" b="1">
                          <a:solidFill>
                            <a:srgbClr val="FFFFFF"/>
                          </a:solidFill>
                          <a:latin typeface="Arial"/>
                          <a:ea typeface="Arial"/>
                          <a:cs typeface="Arial"/>
                        </a:rPr>
                        <a:t>Fecha</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725" b="1">
                          <a:solidFill>
                            <a:srgbClr val="FFFFFF"/>
                          </a:solidFill>
                          <a:latin typeface="Arial"/>
                          <a:ea typeface="Arial"/>
                          <a:cs typeface="Arial"/>
                        </a:rPr>
                        <a:t>Trabajo prioritario</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725" b="1">
                          <a:solidFill>
                            <a:srgbClr val="FFFFFF"/>
                          </a:solidFill>
                          <a:latin typeface="Arial"/>
                          <a:ea typeface="Arial"/>
                          <a:cs typeface="Arial"/>
                        </a:rPr>
                        <a:t>Salida</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r>
              <a:tr h="666750">
                <a:tc>
                  <a:txBody>
                    <a:bodyPr wrap="square" lIns="114300" tIns="76200" rIns="114300" bIns="76200">
                      <a:noAutofit/>
                    </a:bodyPr>
                    <a:lstStyle/>
                    <a:p>
                      <a:r>
                        <a:rPr sz="1725" b="0">
                          <a:solidFill>
                            <a:srgbClr val="253748"/>
                          </a:solidFill>
                          <a:latin typeface="Arial"/>
                          <a:ea typeface="Arial"/>
                          <a:cs typeface="Arial"/>
                        </a:rPr>
                        <a:t>30/10</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Cerrar GAPS, preparar datos y proponer asignaciones.</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Material de decisión.</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66750">
                <a:tc>
                  <a:txBody>
                    <a:bodyPr wrap="square" lIns="114300" tIns="76200" rIns="114300" bIns="76200">
                      <a:noAutofit/>
                    </a:bodyPr>
                    <a:lstStyle/>
                    <a:p>
                      <a:r>
                        <a:rPr sz="1725" b="0">
                          <a:solidFill>
                            <a:srgbClr val="253748"/>
                          </a:solidFill>
                          <a:latin typeface="Arial"/>
                          <a:ea typeface="Arial"/>
                          <a:cs typeface="Arial"/>
                        </a:rPr>
                        <a:t>02/11</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Dirección confirma equipo, horas y población.</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Acta y calendario operativo.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66750">
                <a:tc>
                  <a:txBody>
                    <a:bodyPr wrap="square" lIns="114300" tIns="76200" rIns="114300" bIns="76200">
                      <a:noAutofit/>
                    </a:bodyPr>
                    <a:lstStyle/>
                    <a:p>
                      <a:r>
                        <a:rPr sz="1725" b="0">
                          <a:solidFill>
                            <a:srgbClr val="253748"/>
                          </a:solidFill>
                          <a:latin typeface="Arial"/>
                          <a:ea typeface="Arial"/>
                          <a:cs typeface="Arial"/>
                        </a:rPr>
                        <a:t>03/11</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Formación mínima, esperado, accesos y controles.</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Módulos preparados para smoke.</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66750">
                <a:tc>
                  <a:txBody>
                    <a:bodyPr wrap="square" lIns="114300" tIns="76200" rIns="114300" bIns="76200">
                      <a:noAutofit/>
                    </a:bodyPr>
                    <a:lstStyle/>
                    <a:p>
                      <a:r>
                        <a:rPr sz="1725" b="0">
                          <a:solidFill>
                            <a:srgbClr val="253748"/>
                          </a:solidFill>
                          <a:latin typeface="Arial"/>
                          <a:ea typeface="Arial"/>
                          <a:cs typeface="Arial"/>
                        </a:rPr>
                        <a:t>04/11</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Disponibilidad controlada, smoke y primer paralelo.</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Flujos mínimos y comparación OC.</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66750">
                <a:tc>
                  <a:txBody>
                    <a:bodyPr wrap="square" lIns="114300" tIns="76200" rIns="114300" bIns="76200">
                      <a:noAutofit/>
                    </a:bodyPr>
                    <a:lstStyle/>
                    <a:p>
                      <a:r>
                        <a:rPr sz="1725" b="0">
                          <a:solidFill>
                            <a:srgbClr val="253748"/>
                          </a:solidFill>
                          <a:latin typeface="Arial"/>
                          <a:ea typeface="Arial"/>
                          <a:cs typeface="Arial"/>
                        </a:rPr>
                        <a:t>05–06/11</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Continuar comparación, excepciones y repruebas.</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Aceptación progresiva o acciones pendientes.</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Tree>
    <p:extLst>
      <p:ext uri="{BB962C8B-B14F-4D97-AF65-F5344CB8AC3E}">
        <p14:creationId xmlns:p14="http://schemas.microsoft.com/office/powerpoint/2010/main" val="1182279771"/>
      </p:ext>
    </p:extLst>
  </p:cSld>
</p:sld>
</file>

<file path=ppt/slides/slide1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D903F8-F166-475A-9EB4-9BFE22F82E9A}"/>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Compromisos que deben quedar en el acta</a:t>
            </a:r>
          </a:p>
        </p:txBody>
      </p:sp>
      <p:sp>
        <p:nvSpPr>
          <p:cNvPr id="2" name="">
            <a:extLst xmlns:a="http://schemas.openxmlformats.org/drawingml/2006/main">
              <a:ext uri="{FF2B5EF4-FFF2-40B4-BE49-F238E27FC236}">
                <a16:creationId xmlns:a16="http://schemas.microsoft.com/office/drawing/2014/main" id="{DD293EF9-F10F-4491-AB3A-1FF0D3AA6E75}"/>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3896221-1862-4BAD-9669-EC3EFA9937E8}"/>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B4EC7074-D44B-4186-8E48-837E69204656}"/>
              </a:ext>
            </a:extLst>
          </p:cNvPr>
          <p:cNvSpPr>
            <a:spLocks xmlns:a="http://schemas.openxmlformats.org/drawingml/2006/main" noGrp="1"/>
          </p:cNvSpPr>
          <p:nvPr/>
        </p:nvSpPr>
        <p:spPr>
          <a:xfrm xmlns:a="http://schemas.openxmlformats.org/drawingml/2006/main">
            <a:off x="609600" y="18097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253748"/>
                </a:solidFill>
                <a:latin typeface="Arial"/>
                <a:ea typeface="Arial"/>
                <a:cs typeface="Arial"/>
              </a:defRPr>
            </a:defPPr>
            <a:lvl1pPr>
              <a:defRPr sz="2100" b="0">
                <a:solidFill>
                  <a:srgbClr val="253748"/>
                </a:solidFill>
                <a:latin typeface="Arial"/>
                <a:ea typeface="Arial"/>
                <a:cs typeface="Arial"/>
              </a:defRPr>
            </a:lvl1pPr>
            <a:lvl2pPr>
              <a:defRPr sz="2100" b="0">
                <a:solidFill>
                  <a:srgbClr val="253748"/>
                </a:solidFill>
                <a:latin typeface="Arial"/>
                <a:ea typeface="Arial"/>
                <a:cs typeface="Arial"/>
              </a:defRPr>
            </a:lvl2pPr>
            <a:lvl3pPr>
              <a:defRPr sz="2100" b="0">
                <a:solidFill>
                  <a:srgbClr val="253748"/>
                </a:solidFill>
                <a:latin typeface="Arial"/>
                <a:ea typeface="Arial"/>
                <a:cs typeface="Arial"/>
              </a:defRPr>
            </a:lvl3pPr>
            <a:lvl4pPr>
              <a:defRPr sz="2100" b="0">
                <a:solidFill>
                  <a:srgbClr val="253748"/>
                </a:solidFill>
                <a:latin typeface="Arial"/>
                <a:ea typeface="Arial"/>
                <a:cs typeface="Arial"/>
              </a:defRPr>
            </a:lvl4pPr>
            <a:lvl5pPr>
              <a:defRPr sz="2100" b="0">
                <a:solidFill>
                  <a:srgbClr val="253748"/>
                </a:solidFill>
                <a:latin typeface="Arial"/>
                <a:ea typeface="Arial"/>
                <a:cs typeface="Arial"/>
              </a:defRPr>
            </a:lvl5pPr>
            <a:lvl6pPr>
              <a:defRPr sz="2100" b="0">
                <a:solidFill>
                  <a:srgbClr val="253748"/>
                </a:solidFill>
                <a:latin typeface="Arial"/>
                <a:ea typeface="Arial"/>
                <a:cs typeface="Arial"/>
              </a:defRPr>
            </a:lvl6pPr>
            <a:lvl7pPr>
              <a:defRPr sz="2100" b="0">
                <a:solidFill>
                  <a:srgbClr val="253748"/>
                </a:solidFill>
                <a:latin typeface="Arial"/>
                <a:ea typeface="Arial"/>
                <a:cs typeface="Arial"/>
              </a:defRPr>
            </a:lvl7pPr>
            <a:lvl8pPr>
              <a:defRPr sz="2100" b="0">
                <a:solidFill>
                  <a:srgbClr val="253748"/>
                </a:solidFill>
                <a:latin typeface="Arial"/>
                <a:ea typeface="Arial"/>
                <a:cs typeface="Arial"/>
              </a:defRPr>
            </a:lvl8pPr>
            <a:lvl9pPr>
              <a:defRPr sz="2100" b="0">
                <a:solidFill>
                  <a:srgbClr val="253748"/>
                </a:solidFill>
                <a:latin typeface="Arial"/>
                <a:ea typeface="Arial"/>
                <a:cs typeface="Arial"/>
              </a:defRPr>
            </a:lvl9pPr>
          </a:lstStyle>
          <a:p xmlns:a="http://schemas.openxmlformats.org/drawingml/2006/main">
            <a:pPr>
              <a:defRPr sz="2100" b="0">
                <a:solidFill>
                  <a:srgbClr val="253748"/>
                </a:solidFill>
                <a:latin typeface="Arial"/>
                <a:ea typeface="Arial"/>
                <a:cs typeface="Arial"/>
              </a:defRPr>
            </a:pPr>
            <a:r>
              <a:rPr sz="2100" b="0">
                <a:solidFill>
                  <a:srgbClr val="253748"/>
                </a:solidFill>
                <a:latin typeface="Arial"/>
                <a:ea typeface="Arial"/>
                <a:cs typeface="Arial"/>
              </a:rPr>
              <a:t>Quién lidera DIARCO y quién decide por cada proceso.</a:t>
            </a:r>
          </a:p>
        </p:txBody>
      </p:sp>
      <p:sp>
        <p:nvSpPr>
          <p:cNvPr id="5" name="">
            <a:extLst xmlns:a="http://schemas.openxmlformats.org/drawingml/2006/main">
              <a:ext uri="{FF2B5EF4-FFF2-40B4-BE49-F238E27FC236}">
                <a16:creationId xmlns:a16="http://schemas.microsoft.com/office/drawing/2014/main" id="{D4A16320-B632-499D-9ECE-15E79F2FC1A5}"/>
              </a:ext>
            </a:extLst>
          </p:cNvPr>
          <p:cNvSpPr>
            <a:spLocks xmlns:a="http://schemas.openxmlformats.org/drawingml/2006/main" noGrp="1"/>
          </p:cNvSpPr>
          <p:nvPr/>
        </p:nvSpPr>
        <p:spPr>
          <a:xfrm xmlns:a="http://schemas.openxmlformats.org/drawingml/2006/main">
            <a:off x="609600" y="26098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253748"/>
                </a:solidFill>
                <a:latin typeface="Arial"/>
                <a:ea typeface="Arial"/>
                <a:cs typeface="Arial"/>
              </a:defRPr>
            </a:defPPr>
            <a:lvl1pPr>
              <a:defRPr sz="2100" b="0">
                <a:solidFill>
                  <a:srgbClr val="253748"/>
                </a:solidFill>
                <a:latin typeface="Arial"/>
                <a:ea typeface="Arial"/>
                <a:cs typeface="Arial"/>
              </a:defRPr>
            </a:lvl1pPr>
            <a:lvl2pPr>
              <a:defRPr sz="2100" b="0">
                <a:solidFill>
                  <a:srgbClr val="253748"/>
                </a:solidFill>
                <a:latin typeface="Arial"/>
                <a:ea typeface="Arial"/>
                <a:cs typeface="Arial"/>
              </a:defRPr>
            </a:lvl2pPr>
            <a:lvl3pPr>
              <a:defRPr sz="2100" b="0">
                <a:solidFill>
                  <a:srgbClr val="253748"/>
                </a:solidFill>
                <a:latin typeface="Arial"/>
                <a:ea typeface="Arial"/>
                <a:cs typeface="Arial"/>
              </a:defRPr>
            </a:lvl3pPr>
            <a:lvl4pPr>
              <a:defRPr sz="2100" b="0">
                <a:solidFill>
                  <a:srgbClr val="253748"/>
                </a:solidFill>
                <a:latin typeface="Arial"/>
                <a:ea typeface="Arial"/>
                <a:cs typeface="Arial"/>
              </a:defRPr>
            </a:lvl4pPr>
            <a:lvl5pPr>
              <a:defRPr sz="2100" b="0">
                <a:solidFill>
                  <a:srgbClr val="253748"/>
                </a:solidFill>
                <a:latin typeface="Arial"/>
                <a:ea typeface="Arial"/>
                <a:cs typeface="Arial"/>
              </a:defRPr>
            </a:lvl5pPr>
            <a:lvl6pPr>
              <a:defRPr sz="2100" b="0">
                <a:solidFill>
                  <a:srgbClr val="253748"/>
                </a:solidFill>
                <a:latin typeface="Arial"/>
                <a:ea typeface="Arial"/>
                <a:cs typeface="Arial"/>
              </a:defRPr>
            </a:lvl6pPr>
            <a:lvl7pPr>
              <a:defRPr sz="2100" b="0">
                <a:solidFill>
                  <a:srgbClr val="253748"/>
                </a:solidFill>
                <a:latin typeface="Arial"/>
                <a:ea typeface="Arial"/>
                <a:cs typeface="Arial"/>
              </a:defRPr>
            </a:lvl7pPr>
            <a:lvl8pPr>
              <a:defRPr sz="2100" b="0">
                <a:solidFill>
                  <a:srgbClr val="253748"/>
                </a:solidFill>
                <a:latin typeface="Arial"/>
                <a:ea typeface="Arial"/>
                <a:cs typeface="Arial"/>
              </a:defRPr>
            </a:lvl8pPr>
            <a:lvl9pPr>
              <a:defRPr sz="2100" b="0">
                <a:solidFill>
                  <a:srgbClr val="253748"/>
                </a:solidFill>
                <a:latin typeface="Arial"/>
                <a:ea typeface="Arial"/>
                <a:cs typeface="Arial"/>
              </a:defRPr>
            </a:lvl9pPr>
          </a:lstStyle>
          <a:p xmlns:a="http://schemas.openxmlformats.org/drawingml/2006/main">
            <a:pPr>
              <a:defRPr sz="2100" b="0">
                <a:solidFill>
                  <a:srgbClr val="253748"/>
                </a:solidFill>
                <a:latin typeface="Arial"/>
                <a:ea typeface="Arial"/>
                <a:cs typeface="Arial"/>
              </a:defRPr>
            </a:pPr>
            <a:r>
              <a:rPr sz="2100" b="0">
                <a:solidFill>
                  <a:srgbClr val="253748"/>
                </a:solidFill>
                <a:latin typeface="Arial"/>
                <a:ea typeface="Arial"/>
                <a:cs typeface="Arial"/>
              </a:rPr>
              <a:t>Quiénes serán titulares y suplentes, con horas liberadas.</a:t>
            </a:r>
          </a:p>
        </p:txBody>
      </p:sp>
      <p:sp>
        <p:nvSpPr>
          <p:cNvPr id="6" name="">
            <a:extLst xmlns:a="http://schemas.openxmlformats.org/drawingml/2006/main">
              <a:ext uri="{FF2B5EF4-FFF2-40B4-BE49-F238E27FC236}">
                <a16:creationId xmlns:a16="http://schemas.microsoft.com/office/drawing/2014/main" id="{0AF7AB6A-0612-4C18-8F4E-3FFF1B807122}"/>
              </a:ext>
            </a:extLst>
          </p:cNvPr>
          <p:cNvSpPr>
            <a:spLocks xmlns:a="http://schemas.openxmlformats.org/drawingml/2006/main" noGrp="1"/>
          </p:cNvSpPr>
          <p:nvPr/>
        </p:nvSpPr>
        <p:spPr>
          <a:xfrm xmlns:a="http://schemas.openxmlformats.org/drawingml/2006/main">
            <a:off x="609600" y="34099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253748"/>
                </a:solidFill>
                <a:latin typeface="Arial"/>
                <a:ea typeface="Arial"/>
                <a:cs typeface="Arial"/>
              </a:defRPr>
            </a:defPPr>
            <a:lvl1pPr>
              <a:defRPr sz="2100" b="0">
                <a:solidFill>
                  <a:srgbClr val="253748"/>
                </a:solidFill>
                <a:latin typeface="Arial"/>
                <a:ea typeface="Arial"/>
                <a:cs typeface="Arial"/>
              </a:defRPr>
            </a:lvl1pPr>
            <a:lvl2pPr>
              <a:defRPr sz="2100" b="0">
                <a:solidFill>
                  <a:srgbClr val="253748"/>
                </a:solidFill>
                <a:latin typeface="Arial"/>
                <a:ea typeface="Arial"/>
                <a:cs typeface="Arial"/>
              </a:defRPr>
            </a:lvl2pPr>
            <a:lvl3pPr>
              <a:defRPr sz="2100" b="0">
                <a:solidFill>
                  <a:srgbClr val="253748"/>
                </a:solidFill>
                <a:latin typeface="Arial"/>
                <a:ea typeface="Arial"/>
                <a:cs typeface="Arial"/>
              </a:defRPr>
            </a:lvl3pPr>
            <a:lvl4pPr>
              <a:defRPr sz="2100" b="0">
                <a:solidFill>
                  <a:srgbClr val="253748"/>
                </a:solidFill>
                <a:latin typeface="Arial"/>
                <a:ea typeface="Arial"/>
                <a:cs typeface="Arial"/>
              </a:defRPr>
            </a:lvl4pPr>
            <a:lvl5pPr>
              <a:defRPr sz="2100" b="0">
                <a:solidFill>
                  <a:srgbClr val="253748"/>
                </a:solidFill>
                <a:latin typeface="Arial"/>
                <a:ea typeface="Arial"/>
                <a:cs typeface="Arial"/>
              </a:defRPr>
            </a:lvl5pPr>
            <a:lvl6pPr>
              <a:defRPr sz="2100" b="0">
                <a:solidFill>
                  <a:srgbClr val="253748"/>
                </a:solidFill>
                <a:latin typeface="Arial"/>
                <a:ea typeface="Arial"/>
                <a:cs typeface="Arial"/>
              </a:defRPr>
            </a:lvl6pPr>
            <a:lvl7pPr>
              <a:defRPr sz="2100" b="0">
                <a:solidFill>
                  <a:srgbClr val="253748"/>
                </a:solidFill>
                <a:latin typeface="Arial"/>
                <a:ea typeface="Arial"/>
                <a:cs typeface="Arial"/>
              </a:defRPr>
            </a:lvl7pPr>
            <a:lvl8pPr>
              <a:defRPr sz="2100" b="0">
                <a:solidFill>
                  <a:srgbClr val="253748"/>
                </a:solidFill>
                <a:latin typeface="Arial"/>
                <a:ea typeface="Arial"/>
                <a:cs typeface="Arial"/>
              </a:defRPr>
            </a:lvl8pPr>
            <a:lvl9pPr>
              <a:defRPr sz="2100" b="0">
                <a:solidFill>
                  <a:srgbClr val="253748"/>
                </a:solidFill>
                <a:latin typeface="Arial"/>
                <a:ea typeface="Arial"/>
                <a:cs typeface="Arial"/>
              </a:defRPr>
            </a:lvl9pPr>
          </a:lstStyle>
          <a:p xmlns:a="http://schemas.openxmlformats.org/drawingml/2006/main">
            <a:pPr>
              <a:defRPr sz="2100" b="0">
                <a:solidFill>
                  <a:srgbClr val="253748"/>
                </a:solidFill>
                <a:latin typeface="Arial"/>
                <a:ea typeface="Arial"/>
                <a:cs typeface="Arial"/>
              </a:defRPr>
            </a:pPr>
            <a:r>
              <a:rPr sz="2100" b="0">
                <a:solidFill>
                  <a:srgbClr val="253748"/>
                </a:solidFill>
                <a:latin typeface="Arial"/>
                <a:ea typeface="Arial"/>
                <a:cs typeface="Arial"/>
              </a:rPr>
              <a:t>Qué módulos y población empiezan el paralelo desde el 04/11.</a:t>
            </a:r>
          </a:p>
        </p:txBody>
      </p:sp>
      <p:sp>
        <p:nvSpPr>
          <p:cNvPr id="7" name="">
            <a:extLst xmlns:a="http://schemas.openxmlformats.org/drawingml/2006/main">
              <a:ext uri="{FF2B5EF4-FFF2-40B4-BE49-F238E27FC236}">
                <a16:creationId xmlns:a16="http://schemas.microsoft.com/office/drawing/2014/main" id="{1A0CE8B0-3130-40BE-86E8-B22E9720BABD}"/>
              </a:ext>
            </a:extLst>
          </p:cNvPr>
          <p:cNvSpPr>
            <a:spLocks xmlns:a="http://schemas.openxmlformats.org/drawingml/2006/main" noGrp="1"/>
          </p:cNvSpPr>
          <p:nvPr/>
        </p:nvSpPr>
        <p:spPr>
          <a:xfrm xmlns:a="http://schemas.openxmlformats.org/drawingml/2006/main">
            <a:off x="609600" y="42100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253748"/>
                </a:solidFill>
                <a:latin typeface="Arial"/>
                <a:ea typeface="Arial"/>
                <a:cs typeface="Arial"/>
              </a:defRPr>
            </a:defPPr>
            <a:lvl1pPr>
              <a:defRPr sz="2100" b="0">
                <a:solidFill>
                  <a:srgbClr val="253748"/>
                </a:solidFill>
                <a:latin typeface="Arial"/>
                <a:ea typeface="Arial"/>
                <a:cs typeface="Arial"/>
              </a:defRPr>
            </a:lvl1pPr>
            <a:lvl2pPr>
              <a:defRPr sz="2100" b="0">
                <a:solidFill>
                  <a:srgbClr val="253748"/>
                </a:solidFill>
                <a:latin typeface="Arial"/>
                <a:ea typeface="Arial"/>
                <a:cs typeface="Arial"/>
              </a:defRPr>
            </a:lvl2pPr>
            <a:lvl3pPr>
              <a:defRPr sz="2100" b="0">
                <a:solidFill>
                  <a:srgbClr val="253748"/>
                </a:solidFill>
                <a:latin typeface="Arial"/>
                <a:ea typeface="Arial"/>
                <a:cs typeface="Arial"/>
              </a:defRPr>
            </a:lvl3pPr>
            <a:lvl4pPr>
              <a:defRPr sz="2100" b="0">
                <a:solidFill>
                  <a:srgbClr val="253748"/>
                </a:solidFill>
                <a:latin typeface="Arial"/>
                <a:ea typeface="Arial"/>
                <a:cs typeface="Arial"/>
              </a:defRPr>
            </a:lvl4pPr>
            <a:lvl5pPr>
              <a:defRPr sz="2100" b="0">
                <a:solidFill>
                  <a:srgbClr val="253748"/>
                </a:solidFill>
                <a:latin typeface="Arial"/>
                <a:ea typeface="Arial"/>
                <a:cs typeface="Arial"/>
              </a:defRPr>
            </a:lvl5pPr>
            <a:lvl6pPr>
              <a:defRPr sz="2100" b="0">
                <a:solidFill>
                  <a:srgbClr val="253748"/>
                </a:solidFill>
                <a:latin typeface="Arial"/>
                <a:ea typeface="Arial"/>
                <a:cs typeface="Arial"/>
              </a:defRPr>
            </a:lvl6pPr>
            <a:lvl7pPr>
              <a:defRPr sz="2100" b="0">
                <a:solidFill>
                  <a:srgbClr val="253748"/>
                </a:solidFill>
                <a:latin typeface="Arial"/>
                <a:ea typeface="Arial"/>
                <a:cs typeface="Arial"/>
              </a:defRPr>
            </a:lvl7pPr>
            <a:lvl8pPr>
              <a:defRPr sz="2100" b="0">
                <a:solidFill>
                  <a:srgbClr val="253748"/>
                </a:solidFill>
                <a:latin typeface="Arial"/>
                <a:ea typeface="Arial"/>
                <a:cs typeface="Arial"/>
              </a:defRPr>
            </a:lvl8pPr>
            <a:lvl9pPr>
              <a:defRPr sz="2100" b="0">
                <a:solidFill>
                  <a:srgbClr val="253748"/>
                </a:solidFill>
                <a:latin typeface="Arial"/>
                <a:ea typeface="Arial"/>
                <a:cs typeface="Arial"/>
              </a:defRPr>
            </a:lvl9pPr>
          </a:lstStyle>
          <a:p xmlns:a="http://schemas.openxmlformats.org/drawingml/2006/main">
            <a:pPr>
              <a:defRPr sz="2100" b="0">
                <a:solidFill>
                  <a:srgbClr val="253748"/>
                </a:solidFill>
                <a:latin typeface="Arial"/>
                <a:ea typeface="Arial"/>
                <a:cs typeface="Arial"/>
              </a:defRPr>
            </a:pPr>
            <a:r>
              <a:rPr sz="2100" b="0">
                <a:solidFill>
                  <a:srgbClr val="253748"/>
                </a:solidFill>
                <a:latin typeface="Arial"/>
                <a:ea typeface="Arial"/>
                <a:cs typeface="Arial"/>
              </a:rPr>
              <a:t>Cómo se comparan resultados y quién firma aceptación.</a:t>
            </a:r>
          </a:p>
        </p:txBody>
      </p:sp>
      <p:sp>
        <p:nvSpPr>
          <p:cNvPr id="8" name="">
            <a:extLst xmlns:a="http://schemas.openxmlformats.org/drawingml/2006/main">
              <a:ext uri="{FF2B5EF4-FFF2-40B4-BE49-F238E27FC236}">
                <a16:creationId xmlns:a16="http://schemas.microsoft.com/office/drawing/2014/main" id="{28CFC9EE-3B34-4E87-805D-59F2A180DF02}"/>
              </a:ext>
            </a:extLst>
          </p:cNvPr>
          <p:cNvSpPr>
            <a:spLocks xmlns:a="http://schemas.openxmlformats.org/drawingml/2006/main" noGrp="1"/>
          </p:cNvSpPr>
          <p:nvPr/>
        </p:nvSpPr>
        <p:spPr>
          <a:xfrm xmlns:a="http://schemas.openxmlformats.org/drawingml/2006/main">
            <a:off x="609600" y="50101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253748"/>
                </a:solidFill>
                <a:latin typeface="Arial"/>
                <a:ea typeface="Arial"/>
                <a:cs typeface="Arial"/>
              </a:defRPr>
            </a:defPPr>
            <a:lvl1pPr>
              <a:defRPr sz="2100" b="0">
                <a:solidFill>
                  <a:srgbClr val="253748"/>
                </a:solidFill>
                <a:latin typeface="Arial"/>
                <a:ea typeface="Arial"/>
                <a:cs typeface="Arial"/>
              </a:defRPr>
            </a:lvl1pPr>
            <a:lvl2pPr>
              <a:defRPr sz="2100" b="0">
                <a:solidFill>
                  <a:srgbClr val="253748"/>
                </a:solidFill>
                <a:latin typeface="Arial"/>
                <a:ea typeface="Arial"/>
                <a:cs typeface="Arial"/>
              </a:defRPr>
            </a:lvl2pPr>
            <a:lvl3pPr>
              <a:defRPr sz="2100" b="0">
                <a:solidFill>
                  <a:srgbClr val="253748"/>
                </a:solidFill>
                <a:latin typeface="Arial"/>
                <a:ea typeface="Arial"/>
                <a:cs typeface="Arial"/>
              </a:defRPr>
            </a:lvl3pPr>
            <a:lvl4pPr>
              <a:defRPr sz="2100" b="0">
                <a:solidFill>
                  <a:srgbClr val="253748"/>
                </a:solidFill>
                <a:latin typeface="Arial"/>
                <a:ea typeface="Arial"/>
                <a:cs typeface="Arial"/>
              </a:defRPr>
            </a:lvl4pPr>
            <a:lvl5pPr>
              <a:defRPr sz="2100" b="0">
                <a:solidFill>
                  <a:srgbClr val="253748"/>
                </a:solidFill>
                <a:latin typeface="Arial"/>
                <a:ea typeface="Arial"/>
                <a:cs typeface="Arial"/>
              </a:defRPr>
            </a:lvl5pPr>
            <a:lvl6pPr>
              <a:defRPr sz="2100" b="0">
                <a:solidFill>
                  <a:srgbClr val="253748"/>
                </a:solidFill>
                <a:latin typeface="Arial"/>
                <a:ea typeface="Arial"/>
                <a:cs typeface="Arial"/>
              </a:defRPr>
            </a:lvl6pPr>
            <a:lvl7pPr>
              <a:defRPr sz="2100" b="0">
                <a:solidFill>
                  <a:srgbClr val="253748"/>
                </a:solidFill>
                <a:latin typeface="Arial"/>
                <a:ea typeface="Arial"/>
                <a:cs typeface="Arial"/>
              </a:defRPr>
            </a:lvl7pPr>
            <a:lvl8pPr>
              <a:defRPr sz="2100" b="0">
                <a:solidFill>
                  <a:srgbClr val="253748"/>
                </a:solidFill>
                <a:latin typeface="Arial"/>
                <a:ea typeface="Arial"/>
                <a:cs typeface="Arial"/>
              </a:defRPr>
            </a:lvl8pPr>
            <a:lvl9pPr>
              <a:defRPr sz="2100" b="0">
                <a:solidFill>
                  <a:srgbClr val="253748"/>
                </a:solidFill>
                <a:latin typeface="Arial"/>
                <a:ea typeface="Arial"/>
                <a:cs typeface="Arial"/>
              </a:defRPr>
            </a:lvl9pPr>
          </a:lstStyle>
          <a:p xmlns:a="http://schemas.openxmlformats.org/drawingml/2006/main">
            <a:pPr>
              <a:defRPr sz="2100" b="0">
                <a:solidFill>
                  <a:srgbClr val="253748"/>
                </a:solidFill>
                <a:latin typeface="Arial"/>
                <a:ea typeface="Arial"/>
                <a:cs typeface="Arial"/>
              </a:defRPr>
            </a:pPr>
            <a:r>
              <a:rPr sz="2100" b="0">
                <a:solidFill>
                  <a:srgbClr val="253748"/>
                </a:solidFill>
                <a:latin typeface="Arial"/>
                <a:ea typeface="Arial"/>
                <a:cs typeface="Arial"/>
              </a:rPr>
              <a:t>Qué cobertura de IT, mesa y Zeetrex acompaña cada ventana.</a:t>
            </a:r>
          </a:p>
        </p:txBody>
      </p:sp>
    </p:spTree>
    <p:extLst>
      <p:ext uri="{BB962C8B-B14F-4D97-AF65-F5344CB8AC3E}">
        <p14:creationId xmlns:p14="http://schemas.microsoft.com/office/powerpoint/2010/main" val="8782014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2026-10-30T14:52:09.8200000Z</dcterms:created>
  <dcterms:modified xsi:type="dcterms:W3CDTF">2026-10-30T14:52:09.8200000Z</dcterms:modified>
</coreProperties>
</file>